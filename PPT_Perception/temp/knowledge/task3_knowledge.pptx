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</p:sldMasterIdLst>
  <p:notesMasterIdLst>
    <p:notesMasterId r:id="rId6"/>
  </p:notesMasterIdLst>
  <p:handoutMasterIdLst>
    <p:handoutMasterId r:id="rId21"/>
  </p:handoutMasterIdLst>
  <p:sldIdLst>
    <p:sldId id="2859" r:id="rId4"/>
    <p:sldId id="2874" r:id="rId5"/>
    <p:sldId id="2873" r:id="rId7"/>
    <p:sldId id="2872" r:id="rId8"/>
    <p:sldId id="2871" r:id="rId9"/>
    <p:sldId id="2870" r:id="rId10"/>
    <p:sldId id="2869" r:id="rId11"/>
    <p:sldId id="2868" r:id="rId12"/>
    <p:sldId id="2867" r:id="rId13"/>
    <p:sldId id="2866" r:id="rId14"/>
    <p:sldId id="2865" r:id="rId15"/>
    <p:sldId id="2864" r:id="rId16"/>
    <p:sldId id="2863" r:id="rId17"/>
    <p:sldId id="2862" r:id="rId18"/>
    <p:sldId id="2861" r:id="rId19"/>
    <p:sldId id="2860" r:id="rId20"/>
  </p:sldIdLst>
  <p:sldSz cx="12192000" cy="6858000"/>
  <p:notesSz cx="6858000" cy="9144000"/>
  <p:custDataLst>
    <p:tags r:id="rId26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16" userDrawn="1">
          <p15:clr>
            <a:srgbClr val="A4A3A4"/>
          </p15:clr>
        </p15:guide>
        <p15:guide id="2" pos="367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816"/>
        <p:guide pos="367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6" Type="http://schemas.openxmlformats.org/officeDocument/2006/relationships/tags" Target="tags/tag196.xml"/><Relationship Id="rId25" Type="http://schemas.openxmlformats.org/officeDocument/2006/relationships/commentAuthors" Target="commentAuthors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78.xml"/><Relationship Id="rId8" Type="http://schemas.openxmlformats.org/officeDocument/2006/relationships/tags" Target="../tags/tag77.xml"/><Relationship Id="rId7" Type="http://schemas.openxmlformats.org/officeDocument/2006/relationships/tags" Target="../tags/tag76.xml"/><Relationship Id="rId6" Type="http://schemas.openxmlformats.org/officeDocument/2006/relationships/tags" Target="../tags/tag75.xml"/><Relationship Id="rId5" Type="http://schemas.openxmlformats.org/officeDocument/2006/relationships/tags" Target="../tags/tag74.xml"/><Relationship Id="rId4" Type="http://schemas.openxmlformats.org/officeDocument/2006/relationships/tags" Target="../tags/tag73.xml"/><Relationship Id="rId3" Type="http://schemas.openxmlformats.org/officeDocument/2006/relationships/tags" Target="../tags/tag72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89.xml"/><Relationship Id="rId2" Type="http://schemas.openxmlformats.org/officeDocument/2006/relationships/tags" Target="../tags/tag71.xml"/><Relationship Id="rId19" Type="http://schemas.openxmlformats.org/officeDocument/2006/relationships/tags" Target="../tags/tag88.xml"/><Relationship Id="rId18" Type="http://schemas.openxmlformats.org/officeDocument/2006/relationships/tags" Target="../tags/tag87.xml"/><Relationship Id="rId17" Type="http://schemas.openxmlformats.org/officeDocument/2006/relationships/tags" Target="../tags/tag86.xml"/><Relationship Id="rId16" Type="http://schemas.openxmlformats.org/officeDocument/2006/relationships/tags" Target="../tags/tag85.xml"/><Relationship Id="rId15" Type="http://schemas.openxmlformats.org/officeDocument/2006/relationships/tags" Target="../tags/tag84.xml"/><Relationship Id="rId14" Type="http://schemas.openxmlformats.org/officeDocument/2006/relationships/tags" Target="../tags/tag83.xml"/><Relationship Id="rId13" Type="http://schemas.openxmlformats.org/officeDocument/2006/relationships/tags" Target="../tags/tag82.xml"/><Relationship Id="rId12" Type="http://schemas.openxmlformats.org/officeDocument/2006/relationships/tags" Target="../tags/tag81.xml"/><Relationship Id="rId11" Type="http://schemas.openxmlformats.org/officeDocument/2006/relationships/tags" Target="../tags/tag80.xml"/><Relationship Id="rId10" Type="http://schemas.openxmlformats.org/officeDocument/2006/relationships/tags" Target="../tags/tag79.xml"/><Relationship Id="rId1" Type="http://schemas.openxmlformats.org/officeDocument/2006/relationships/tags" Target="../tags/tag70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2" Type="http://schemas.openxmlformats.org/officeDocument/2006/relationships/notesSlide" Target="../notesSlides/notesSlide1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99.xml"/><Relationship Id="rId1" Type="http://schemas.openxmlformats.org/officeDocument/2006/relationships/tags" Target="../tags/tag9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108.xml"/><Relationship Id="rId8" Type="http://schemas.openxmlformats.org/officeDocument/2006/relationships/tags" Target="../tags/tag107.xml"/><Relationship Id="rId7" Type="http://schemas.openxmlformats.org/officeDocument/2006/relationships/tags" Target="../tags/tag106.xml"/><Relationship Id="rId6" Type="http://schemas.openxmlformats.org/officeDocument/2006/relationships/tags" Target="../tags/tag105.xml"/><Relationship Id="rId5" Type="http://schemas.openxmlformats.org/officeDocument/2006/relationships/tags" Target="../tags/tag104.xml"/><Relationship Id="rId4" Type="http://schemas.openxmlformats.org/officeDocument/2006/relationships/tags" Target="../tags/tag103.xml"/><Relationship Id="rId3" Type="http://schemas.openxmlformats.org/officeDocument/2006/relationships/tags" Target="../tags/tag102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119.xml"/><Relationship Id="rId2" Type="http://schemas.openxmlformats.org/officeDocument/2006/relationships/tags" Target="../tags/tag101.xml"/><Relationship Id="rId19" Type="http://schemas.openxmlformats.org/officeDocument/2006/relationships/tags" Target="../tags/tag118.xml"/><Relationship Id="rId18" Type="http://schemas.openxmlformats.org/officeDocument/2006/relationships/tags" Target="../tags/tag117.xml"/><Relationship Id="rId17" Type="http://schemas.openxmlformats.org/officeDocument/2006/relationships/tags" Target="../tags/tag116.xml"/><Relationship Id="rId16" Type="http://schemas.openxmlformats.org/officeDocument/2006/relationships/tags" Target="../tags/tag115.xml"/><Relationship Id="rId15" Type="http://schemas.openxmlformats.org/officeDocument/2006/relationships/tags" Target="../tags/tag114.xml"/><Relationship Id="rId14" Type="http://schemas.openxmlformats.org/officeDocument/2006/relationships/tags" Target="../tags/tag113.xml"/><Relationship Id="rId13" Type="http://schemas.openxmlformats.org/officeDocument/2006/relationships/tags" Target="../tags/tag112.xml"/><Relationship Id="rId12" Type="http://schemas.openxmlformats.org/officeDocument/2006/relationships/tags" Target="../tags/tag111.xml"/><Relationship Id="rId11" Type="http://schemas.openxmlformats.org/officeDocument/2006/relationships/tags" Target="../tags/tag110.xml"/><Relationship Id="rId10" Type="http://schemas.openxmlformats.org/officeDocument/2006/relationships/tags" Target="../tags/tag109.xml"/><Relationship Id="rId1" Type="http://schemas.openxmlformats.org/officeDocument/2006/relationships/tags" Target="../tags/tag100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28.xml"/><Relationship Id="rId8" Type="http://schemas.openxmlformats.org/officeDocument/2006/relationships/tags" Target="../tags/tag127.xml"/><Relationship Id="rId7" Type="http://schemas.openxmlformats.org/officeDocument/2006/relationships/tags" Target="../tags/tag126.xml"/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2" Type="http://schemas.openxmlformats.org/officeDocument/2006/relationships/notesSlide" Target="../notesSlides/notesSlide3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129.xml"/><Relationship Id="rId1" Type="http://schemas.openxmlformats.org/officeDocument/2006/relationships/tags" Target="../tags/tag12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138.xml"/><Relationship Id="rId8" Type="http://schemas.openxmlformats.org/officeDocument/2006/relationships/tags" Target="../tags/tag137.xml"/><Relationship Id="rId7" Type="http://schemas.openxmlformats.org/officeDocument/2006/relationships/tags" Target="../tags/tag136.xml"/><Relationship Id="rId6" Type="http://schemas.openxmlformats.org/officeDocument/2006/relationships/tags" Target="../tags/tag135.xml"/><Relationship Id="rId5" Type="http://schemas.openxmlformats.org/officeDocument/2006/relationships/tags" Target="../tags/tag134.xml"/><Relationship Id="rId4" Type="http://schemas.openxmlformats.org/officeDocument/2006/relationships/tags" Target="../tags/tag133.xml"/><Relationship Id="rId3" Type="http://schemas.openxmlformats.org/officeDocument/2006/relationships/tags" Target="../tags/tag132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149.xml"/><Relationship Id="rId2" Type="http://schemas.openxmlformats.org/officeDocument/2006/relationships/tags" Target="../tags/tag131.xml"/><Relationship Id="rId19" Type="http://schemas.openxmlformats.org/officeDocument/2006/relationships/tags" Target="../tags/tag148.xml"/><Relationship Id="rId18" Type="http://schemas.openxmlformats.org/officeDocument/2006/relationships/tags" Target="../tags/tag147.xml"/><Relationship Id="rId17" Type="http://schemas.openxmlformats.org/officeDocument/2006/relationships/tags" Target="../tags/tag146.xml"/><Relationship Id="rId16" Type="http://schemas.openxmlformats.org/officeDocument/2006/relationships/tags" Target="../tags/tag145.xml"/><Relationship Id="rId15" Type="http://schemas.openxmlformats.org/officeDocument/2006/relationships/tags" Target="../tags/tag144.xml"/><Relationship Id="rId14" Type="http://schemas.openxmlformats.org/officeDocument/2006/relationships/tags" Target="../tags/tag143.xml"/><Relationship Id="rId13" Type="http://schemas.openxmlformats.org/officeDocument/2006/relationships/tags" Target="../tags/tag142.xml"/><Relationship Id="rId12" Type="http://schemas.openxmlformats.org/officeDocument/2006/relationships/tags" Target="../tags/tag141.xml"/><Relationship Id="rId11" Type="http://schemas.openxmlformats.org/officeDocument/2006/relationships/tags" Target="../tags/tag140.xml"/><Relationship Id="rId10" Type="http://schemas.openxmlformats.org/officeDocument/2006/relationships/tags" Target="../tags/tag139.xml"/><Relationship Id="rId1" Type="http://schemas.openxmlformats.org/officeDocument/2006/relationships/tags" Target="../tags/tag130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158.xml"/><Relationship Id="rId8" Type="http://schemas.openxmlformats.org/officeDocument/2006/relationships/tags" Target="../tags/tag157.xml"/><Relationship Id="rId7" Type="http://schemas.openxmlformats.org/officeDocument/2006/relationships/tags" Target="../tags/tag156.xml"/><Relationship Id="rId6" Type="http://schemas.openxmlformats.org/officeDocument/2006/relationships/tags" Target="../tags/tag155.xml"/><Relationship Id="rId5" Type="http://schemas.openxmlformats.org/officeDocument/2006/relationships/tags" Target="../tags/tag154.xml"/><Relationship Id="rId4" Type="http://schemas.openxmlformats.org/officeDocument/2006/relationships/tags" Target="../tags/tag153.xml"/><Relationship Id="rId3" Type="http://schemas.openxmlformats.org/officeDocument/2006/relationships/tags" Target="../tags/tag152.xml"/><Relationship Id="rId2" Type="http://schemas.openxmlformats.org/officeDocument/2006/relationships/tags" Target="../tags/tag151.xml"/><Relationship Id="rId12" Type="http://schemas.openxmlformats.org/officeDocument/2006/relationships/notesSlide" Target="../notesSlides/notesSlide5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159.xml"/><Relationship Id="rId1" Type="http://schemas.openxmlformats.org/officeDocument/2006/relationships/tags" Target="../tags/tag15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5.xml"/><Relationship Id="rId3" Type="http://schemas.openxmlformats.org/officeDocument/2006/relationships/tags" Target="../tags/tag162.xml"/><Relationship Id="rId2" Type="http://schemas.openxmlformats.org/officeDocument/2006/relationships/tags" Target="../tags/tag161.xml"/><Relationship Id="rId1" Type="http://schemas.openxmlformats.org/officeDocument/2006/relationships/tags" Target="../tags/tag16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171.xml"/><Relationship Id="rId8" Type="http://schemas.openxmlformats.org/officeDocument/2006/relationships/tags" Target="../tags/tag170.xml"/><Relationship Id="rId7" Type="http://schemas.openxmlformats.org/officeDocument/2006/relationships/tags" Target="../tags/tag169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3" Type="http://schemas.openxmlformats.org/officeDocument/2006/relationships/tags" Target="../tags/tag165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182.xml"/><Relationship Id="rId2" Type="http://schemas.openxmlformats.org/officeDocument/2006/relationships/tags" Target="../tags/tag164.xml"/><Relationship Id="rId19" Type="http://schemas.openxmlformats.org/officeDocument/2006/relationships/tags" Target="../tags/tag181.xml"/><Relationship Id="rId18" Type="http://schemas.openxmlformats.org/officeDocument/2006/relationships/tags" Target="../tags/tag180.xml"/><Relationship Id="rId17" Type="http://schemas.openxmlformats.org/officeDocument/2006/relationships/tags" Target="../tags/tag179.xml"/><Relationship Id="rId16" Type="http://schemas.openxmlformats.org/officeDocument/2006/relationships/tags" Target="../tags/tag178.xml"/><Relationship Id="rId15" Type="http://schemas.openxmlformats.org/officeDocument/2006/relationships/tags" Target="../tags/tag177.xml"/><Relationship Id="rId14" Type="http://schemas.openxmlformats.org/officeDocument/2006/relationships/tags" Target="../tags/tag176.xml"/><Relationship Id="rId13" Type="http://schemas.openxmlformats.org/officeDocument/2006/relationships/tags" Target="../tags/tag175.xml"/><Relationship Id="rId12" Type="http://schemas.openxmlformats.org/officeDocument/2006/relationships/tags" Target="../tags/tag174.xml"/><Relationship Id="rId11" Type="http://schemas.openxmlformats.org/officeDocument/2006/relationships/tags" Target="../tags/tag173.xml"/><Relationship Id="rId10" Type="http://schemas.openxmlformats.org/officeDocument/2006/relationships/tags" Target="../tags/tag172.xml"/><Relationship Id="rId1" Type="http://schemas.openxmlformats.org/officeDocument/2006/relationships/tags" Target="../tags/tag163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191.xml"/><Relationship Id="rId8" Type="http://schemas.openxmlformats.org/officeDocument/2006/relationships/tags" Target="../tags/tag190.xml"/><Relationship Id="rId7" Type="http://schemas.openxmlformats.org/officeDocument/2006/relationships/tags" Target="../tags/tag189.xml"/><Relationship Id="rId6" Type="http://schemas.openxmlformats.org/officeDocument/2006/relationships/tags" Target="../tags/tag188.xml"/><Relationship Id="rId5" Type="http://schemas.openxmlformats.org/officeDocument/2006/relationships/tags" Target="../tags/tag187.xml"/><Relationship Id="rId4" Type="http://schemas.openxmlformats.org/officeDocument/2006/relationships/tags" Target="../tags/tag186.xml"/><Relationship Id="rId3" Type="http://schemas.openxmlformats.org/officeDocument/2006/relationships/tags" Target="../tags/tag185.xml"/><Relationship Id="rId2" Type="http://schemas.openxmlformats.org/officeDocument/2006/relationships/tags" Target="../tags/tag184.xml"/><Relationship Id="rId12" Type="http://schemas.openxmlformats.org/officeDocument/2006/relationships/notesSlide" Target="../notesSlides/notesSlide9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192.xml"/><Relationship Id="rId1" Type="http://schemas.openxmlformats.org/officeDocument/2006/relationships/tags" Target="../tags/tag18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15.xml"/><Relationship Id="rId3" Type="http://schemas.openxmlformats.org/officeDocument/2006/relationships/tags" Target="../tags/tag195.xml"/><Relationship Id="rId2" Type="http://schemas.openxmlformats.org/officeDocument/2006/relationships/tags" Target="../tags/tag194.xml"/><Relationship Id="rId1" Type="http://schemas.openxmlformats.org/officeDocument/2006/relationships/tags" Target="../tags/tag19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使用分词器（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Tokenizer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）切分并编码文本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大模型处理自然语言输入的流程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词嵌入（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Word Embedding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——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赋予语义信息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位置编码（</a:t>
            </a:r>
            <a:r>
              <a:rPr lang="en-US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Positional Encoding</a:t>
            </a:r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r>
              <a:rPr lang="en-US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——</a:t>
            </a:r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引入顺序信息</a:t>
            </a:r>
            <a:endParaRPr lang="zh-CN" altLang="en-US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5198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11" name="组合 10"/>
          <p:cNvGrpSpPr/>
          <p:nvPr/>
        </p:nvGrpSpPr>
        <p:grpSpPr>
          <a:xfrm rot="0">
            <a:off x="4238625" y="1424305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70070" y="2366010"/>
            <a:ext cx="7292975" cy="36779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在大模型处理自然语言任务的过程中，模型能够接受和理解的输入并不是原始的自然语言文本。为了让大模型真正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读懂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我们输入的内容，需要通过一系列精心设计的步骤对自然语言进行编码和表示。这些步骤包括：分词（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Tokenization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）、词嵌入（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Word Embedding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）以及位置编码（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Positional Encoding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）。只有经过这些处理，模型才能将人类语言转化为可理解和操作的数值形式。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大模型完整输入处理流程如下：原始句子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➜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分词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➜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Token ID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➜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词嵌入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➜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加上位置编码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➜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最终输入。比如，以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"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我喜欢自然语言处理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"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为例句，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46265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221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主要的输入处理流程可分为以下五步。一、分词：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["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我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", "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喜欢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", "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自然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", "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语言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", "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处理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"]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；二、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Token ID: [100, 3456, 7890, 2345, 6789]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；三、词嵌入：每个词变成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768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维向量；四、位置编码：每个位置加一个专属向量；五、最终输入：词向量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+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位置向量。接下来将对这些关键环节展开介绍，并在具体的任务实施中加深认识。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336934" y="1792605"/>
            <a:ext cx="3494356" cy="4771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使用分词器（</a:t>
            </a:r>
            <a:r>
              <a:rPr lang="en-US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Tokenizer</a:t>
            </a:r>
            <a:r>
              <a:rPr lang="zh-CN" altLang="en-US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）切分并编码文本</a:t>
            </a:r>
            <a:endParaRPr lang="zh-CN" altLang="en-US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大模型处理自然语言输入的流程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词嵌入（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Word Embedding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——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赋予语义信息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位置编码（</a:t>
            </a:r>
            <a:r>
              <a:rPr lang="en-US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Positional Encoding</a:t>
            </a:r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r>
              <a:rPr lang="en-US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——</a:t>
            </a:r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引入顺序信息</a:t>
            </a:r>
            <a:endParaRPr lang="zh-CN" altLang="en-US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5198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11" name="组合 10"/>
          <p:cNvGrpSpPr/>
          <p:nvPr/>
        </p:nvGrpSpPr>
        <p:grpSpPr>
          <a:xfrm rot="0">
            <a:off x="4238625" y="1424305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70070" y="2366010"/>
            <a:ext cx="7292975" cy="36779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1.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分词器的作用是连接自然语言与数值化输入的第一步工具。它的主要功能包括如下。文本切分：将句子拆分为有意义的语言单元（如词语、子词或字符）；词汇映射：将每个切分出的语言单元映射为一个唯一的整数编号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2.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分词器根据实现原理可分为不同类型，其中基于规则的分词器与无监督子词分词器最为常见。基于规则的分词器（如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jieba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）依赖人工构建的词典和切分规则，尤其适用于中文这类没有天然分隔符的语言，并且允许用户自定义词典以提升特定领域术语的识别效果；但其主要缺陷在于难以处理未登录词（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OOV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），即词典中未收录的新词往往无法正确切分。无监督子词分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46265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221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词器（如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WordPiece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SentencePiece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）则通过统计学习从语料中自动生成词汇表，不依赖外部词典，能够更灵活地处理新词和罕见词，像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BERT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采用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WordPiece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Qwen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等模型使用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SentencePiece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，在中文场景下这类分词器常以单字作为最小切分单位，从而有效缓解未登录词问题。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3.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子词机制的优势有一下三点。减少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OOV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问题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：即使遇到训练时未见过的词，也能通过子词组合进行表示；适应性强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：适用于多语言、专业术语、拼写错误等复杂场景；语义表达更丰富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：子词之间存在一定的语义关联性。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336934" y="1792605"/>
            <a:ext cx="3494356" cy="4771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使用分词器（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Tokenizer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）切分并编码文本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大模型处理自然语言输入的流程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64D2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词嵌入（</a:t>
            </a:r>
            <a:r>
              <a:rPr lang="en-US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Word Embedding</a:t>
            </a:r>
            <a:r>
              <a:rPr lang="zh-CN" altLang="en-US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r>
              <a:rPr lang="en-US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——</a:t>
            </a:r>
            <a:r>
              <a:rPr lang="zh-CN" altLang="en-US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赋予语义信息</a:t>
            </a:r>
            <a:endParaRPr lang="zh-CN" altLang="en-US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位置编码（</a:t>
            </a:r>
            <a:r>
              <a:rPr lang="en-US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Positional Encoding</a:t>
            </a:r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r>
              <a:rPr lang="en-US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——</a:t>
            </a:r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引入顺序信息</a:t>
            </a:r>
            <a:endParaRPr lang="zh-CN" altLang="en-US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5198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11" name="组合 10"/>
          <p:cNvGrpSpPr/>
          <p:nvPr/>
        </p:nvGrpSpPr>
        <p:grpSpPr>
          <a:xfrm rot="0">
            <a:off x="4238625" y="1424305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70070" y="2366010"/>
            <a:ext cx="7292975" cy="36779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词嵌入是一种将词语转化为计算机可以处理的数值形式的技术，这样机器才能理解和学习语言。在介绍它之前，我们可以先看一个简单的例子来理解为什么需要这个词嵌入。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比如，如果我们有一个词汇表，里面包含了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猫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狗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汽车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飞机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这四个词，那么最基础的一种表示方法叫做独热编码（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One-Hot Encoding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。它的做法是用一个很长的向量来表示每个词，这个向量中只有一个位置是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，其余都是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。比如，猫：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[1, 0, 0, 0]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；狗：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[0, 1, 0, 0]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；汽车：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[0, 0, 1, 0]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；飞机：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[0, 0, 0, 1]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这种方法虽然简单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46265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221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直观，但存在两个明显的问题。一是当词汇量很大时，比如有上万个词，这样的向量会非常庞大，占用大量内存；二是这些向量之间没有任何语义上的联系。比如，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猫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狗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的向量之间没有体现出它们都是动物这一事实，而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汽车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飞机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也都是交通工具，但在这种表示下，它们的距离是一样的，无法反映实际的语言关系。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为了解决这些问题，就出现了词嵌入（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Word Embedding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）技术。它可以把每个词映射成一个固定长度的实数向量，例如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768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维或者更高的向量。这些向量不仅更紧凑，更重要的是它们能够表达词与词之间的语义关系。例如，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国王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王后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在向量空间中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336934" y="1792605"/>
            <a:ext cx="3494356" cy="4771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4169907" y="1773555"/>
            <a:ext cx="7664450" cy="4690745"/>
            <a:chOff x="450850" y="1397000"/>
            <a:chExt cx="5784850" cy="4690745"/>
          </a:xfrm>
        </p:grpSpPr>
        <p:sp>
          <p:nvSpPr>
            <p:cNvPr id="11" name="矩形 10"/>
            <p:cNvSpPr/>
            <p:nvPr>
              <p:custDataLst>
                <p:tags r:id="rId1"/>
              </p:custDataLst>
            </p:nvPr>
          </p:nvSpPr>
          <p:spPr>
            <a:xfrm>
              <a:off x="450850" y="1397000"/>
              <a:ext cx="5784850" cy="46907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2" name="矩形 11"/>
            <p:cNvSpPr/>
            <p:nvPr>
              <p:custDataLst>
                <p:tags r:id="rId2"/>
              </p:custDataLst>
            </p:nvPr>
          </p:nvSpPr>
          <p:spPr>
            <a:xfrm>
              <a:off x="574040" y="1519555"/>
              <a:ext cx="5521960" cy="4351655"/>
            </a:xfrm>
            <a:prstGeom prst="rect">
              <a:avLst/>
            </a:prstGeom>
            <a:solidFill>
              <a:srgbClr val="4276AA"/>
            </a:solidFill>
            <a:ln>
              <a:noFill/>
            </a:ln>
          </p:spPr>
          <p:style>
            <a:lnRef idx="2">
              <a:srgbClr val="8590CA">
                <a:shade val="50000"/>
              </a:srgbClr>
            </a:lnRef>
            <a:fillRef idx="1">
              <a:srgbClr val="8590CA"/>
            </a:fillRef>
            <a:effectRef idx="0">
              <a:srgbClr val="8590CA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4493895" y="1978025"/>
            <a:ext cx="6997700" cy="41814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的距离会比较接近，说明它们之间有关联；同样，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快乐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和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高兴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也会在向量空间中表现出相似的特征。根据是否考虑上下文，词嵌入可以分为两类：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一类是静态词嵌入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，如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Word2Vec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和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GloVe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。这类方法会给每个词分配一个固定的向量，不管这个词出现在哪个句子中，它的向量都不会改变。比如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苹果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这个词，在所有情况下都对应同一个向量。这种方法计算速度快、效率高，但在处理像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苹果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这样的多义词时会有困难。因为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苹果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既可以指水果，也可以指公司，在不同语境下意思不同，而静态嵌入无法区分这些差异。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另一类是动态词嵌入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，如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BERT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和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Tra</a:t>
            </a:r>
            <a:endParaRPr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29756" y="1773555"/>
            <a:ext cx="3507243" cy="46907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010285" y="1899920"/>
            <a:ext cx="6406515" cy="38849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nsformer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模型中使用的词嵌入方式。这种嵌入方法可以根据词语出现的具体上下文来生成不同的向量。例如：在句子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我今天吃了一个苹果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苹果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会被赋予代表水果的向量；而在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我最喜欢的手机品牌是苹果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苹果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则会被赋予代表科技公司的向量。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这种能够根据上下文调整词向量的能力，使模型对语言的理解更加精准，特别适合处理复杂的自然语言任务。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矩形 10"/>
          <p:cNvSpPr/>
          <p:nvPr/>
        </p:nvSpPr>
        <p:spPr>
          <a:xfrm>
            <a:off x="674370" y="1619885"/>
            <a:ext cx="7019290" cy="4445635"/>
          </a:xfrm>
          <a:custGeom>
            <a:avLst/>
            <a:gdLst/>
            <a:ahLst/>
            <a:cxnLst/>
            <a:rect l="l" t="t" r="r" b="b"/>
            <a:pathLst>
              <a:path w="1759038" h="1334706">
                <a:moveTo>
                  <a:pt x="65637" y="63758"/>
                </a:moveTo>
                <a:lnTo>
                  <a:pt x="65637" y="1271391"/>
                </a:lnTo>
                <a:lnTo>
                  <a:pt x="1711798" y="1271391"/>
                </a:lnTo>
                <a:lnTo>
                  <a:pt x="1711798" y="63758"/>
                </a:lnTo>
                <a:close/>
                <a:moveTo>
                  <a:pt x="0" y="0"/>
                </a:moveTo>
                <a:lnTo>
                  <a:pt x="1759038" y="0"/>
                </a:lnTo>
                <a:lnTo>
                  <a:pt x="1759038" y="1334706"/>
                </a:lnTo>
                <a:lnTo>
                  <a:pt x="0" y="133470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20000"/>
              </a:lnSpc>
            </a:pPr>
            <a:endParaRPr lang="zh-CN" altLang="en-US">
              <a:solidFill>
                <a:srgbClr val="000000"/>
              </a:solidFill>
              <a:cs typeface="+mn-ea"/>
              <a:sym typeface="+mn-lt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8086725" y="2372361"/>
            <a:ext cx="3798570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使用分词器（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Tokenizer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）切分并编码文本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大模型处理自然语言输入的流程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词嵌入（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Word Embedding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——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赋予语义信息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位置编码（</a:t>
            </a:r>
            <a:r>
              <a:rPr lang="en-US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Positional Encoding</a:t>
            </a:r>
            <a:r>
              <a:rPr lang="zh-CN" altLang="en-US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r>
              <a:rPr lang="en-US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——</a:t>
            </a:r>
            <a:r>
              <a:rPr lang="zh-CN" altLang="en-US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引入顺序信息</a:t>
            </a:r>
            <a:endParaRPr lang="zh-CN" altLang="en-US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5198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11" name="组合 10"/>
          <p:cNvGrpSpPr/>
          <p:nvPr/>
        </p:nvGrpSpPr>
        <p:grpSpPr>
          <a:xfrm rot="0">
            <a:off x="4238625" y="1424305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70070" y="2366010"/>
            <a:ext cx="7292975" cy="36779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在我们说话或写句子的时候，词语是有顺序的。比如：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猫追狗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狗追猫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，虽然词是一样的，但意思完全不同。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RNN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这类传统的模型是按顺序一个字一个字处理的，所以它天然知道哪个词在前、哪个词在后。但是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Transformer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不一样，它是一次性把整个句子输入进去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，像拍照一样，一下子看到所有词。这样一来，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就不知道谁在前面、谁在后面了。为了解决这个问题，我们就给每个词加上一个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位置信息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，告诉模型：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这个词是在第几个位置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。这个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位置信息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就是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位置编码（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Positional Encoding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位置编码是怎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46265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221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么工作的？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我们可以把它想象成一个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标签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。就像你在排队时手上拿的号码牌，别人一看就知道你排在第几位。在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Transformer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中，每个词除了有自己的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词向量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（也就是表示这个词是什么意思），还有一个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位置编码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来表示它在句子中的位置。然后这两个信息加在一起，变成一个新的向量，作为最终的输入送给模型。例如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我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的词向量（语义）为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[0.8, -0.3, ...]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我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的位置编码（位置）为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[0.1, 0.0, ...]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，最终输入等于词向量加位置编码为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[0.9, -0.3, ...]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。这样模型就可以同时知道：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我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学习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分别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336934" y="1792605"/>
            <a:ext cx="3494356" cy="4771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4169907" y="1773555"/>
            <a:ext cx="7664450" cy="4690745"/>
            <a:chOff x="450850" y="1397000"/>
            <a:chExt cx="5784850" cy="4690745"/>
          </a:xfrm>
        </p:grpSpPr>
        <p:sp>
          <p:nvSpPr>
            <p:cNvPr id="11" name="矩形 10"/>
            <p:cNvSpPr/>
            <p:nvPr>
              <p:custDataLst>
                <p:tags r:id="rId1"/>
              </p:custDataLst>
            </p:nvPr>
          </p:nvSpPr>
          <p:spPr>
            <a:xfrm>
              <a:off x="450850" y="1397000"/>
              <a:ext cx="5784850" cy="46907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2" name="矩形 11"/>
            <p:cNvSpPr/>
            <p:nvPr>
              <p:custDataLst>
                <p:tags r:id="rId2"/>
              </p:custDataLst>
            </p:nvPr>
          </p:nvSpPr>
          <p:spPr>
            <a:xfrm>
              <a:off x="574040" y="1519555"/>
              <a:ext cx="5521960" cy="4351655"/>
            </a:xfrm>
            <a:prstGeom prst="rect">
              <a:avLst/>
            </a:prstGeom>
            <a:solidFill>
              <a:srgbClr val="4276AA"/>
            </a:solidFill>
            <a:ln>
              <a:noFill/>
            </a:ln>
          </p:spPr>
          <p:style>
            <a:lnRef idx="2">
              <a:srgbClr val="8590CA">
                <a:shade val="50000"/>
              </a:srgbClr>
            </a:lnRef>
            <a:fillRef idx="1">
              <a:srgbClr val="8590CA"/>
            </a:fillRef>
            <a:effectRef idx="0">
              <a:srgbClr val="8590CA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4493895" y="1978025"/>
            <a:ext cx="6997700" cy="41814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是什么意思；以及它们分别是第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1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个、第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2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个、第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3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个词。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位置编码是怎么设计出来的？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常见做法有两种：其一是基于正弦和余弦函数的绝对位置编码，由原始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Transformer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模型采用，它通过固定数学公式直接生成位置向量，无需训练；这种编码具有良好的规律性，使得相邻位置在向量空间中也彼此靠近，同时由于正弦函数的周期性，它能够外推到比训练时更长的序列，即使遇到未见过的长度也能合理计算位置表示。另一种是可学习的位置编码，以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BERT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为代表，它将位置编码视为一个可训练的嵌入表，每一行对应一个绝对位置，每一列对应一个维度，在模型训练过程中通过反向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29756" y="1773555"/>
            <a:ext cx="3507243" cy="46907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010285" y="1899920"/>
            <a:ext cx="6406515" cy="38849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传播自动调整参数，从而学习出最适合当前任务和数据分布的位置表示。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矩形 10"/>
          <p:cNvSpPr/>
          <p:nvPr/>
        </p:nvSpPr>
        <p:spPr>
          <a:xfrm>
            <a:off x="674370" y="1619885"/>
            <a:ext cx="7019290" cy="4445635"/>
          </a:xfrm>
          <a:custGeom>
            <a:avLst/>
            <a:gdLst/>
            <a:ahLst/>
            <a:cxnLst/>
            <a:rect l="l" t="t" r="r" b="b"/>
            <a:pathLst>
              <a:path w="1759038" h="1334706">
                <a:moveTo>
                  <a:pt x="65637" y="63758"/>
                </a:moveTo>
                <a:lnTo>
                  <a:pt x="65637" y="1271391"/>
                </a:lnTo>
                <a:lnTo>
                  <a:pt x="1711798" y="1271391"/>
                </a:lnTo>
                <a:lnTo>
                  <a:pt x="1711798" y="63758"/>
                </a:lnTo>
                <a:close/>
                <a:moveTo>
                  <a:pt x="0" y="0"/>
                </a:moveTo>
                <a:lnTo>
                  <a:pt x="1759038" y="0"/>
                </a:lnTo>
                <a:lnTo>
                  <a:pt x="1759038" y="1334706"/>
                </a:lnTo>
                <a:lnTo>
                  <a:pt x="0" y="133470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20000"/>
              </a:lnSpc>
            </a:pPr>
            <a:endParaRPr lang="zh-CN" altLang="en-US">
              <a:solidFill>
                <a:srgbClr val="000000"/>
              </a:solidFill>
              <a:cs typeface="+mn-ea"/>
              <a:sym typeface="+mn-lt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8086725" y="2372361"/>
            <a:ext cx="3798570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8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0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0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0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0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0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0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0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0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0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1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1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1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1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1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1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1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4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50.xml><?xml version="1.0" encoding="utf-8"?>
<p:tagLst xmlns:p="http://schemas.openxmlformats.org/presentationml/2006/main">
  <p:tag name="KSO_WM_BEAUTIFY_FLAG" val=""/>
</p:tagLst>
</file>

<file path=ppt/tags/tag151.xml><?xml version="1.0" encoding="utf-8"?>
<p:tagLst xmlns:p="http://schemas.openxmlformats.org/presentationml/2006/main">
  <p:tag name="KSO_WM_BEAUTIFY_FLAG" val=""/>
</p:tagLst>
</file>

<file path=ppt/tags/tag152.xml><?xml version="1.0" encoding="utf-8"?>
<p:tagLst xmlns:p="http://schemas.openxmlformats.org/presentationml/2006/main">
  <p:tag name="KSO_WM_BEAUTIFY_FLAG" val=""/>
</p:tagLst>
</file>

<file path=ppt/tags/tag153.xml><?xml version="1.0" encoding="utf-8"?>
<p:tagLst xmlns:p="http://schemas.openxmlformats.org/presentationml/2006/main">
  <p:tag name="KSO_WM_BEAUTIFY_FLAG" val=""/>
</p:tagLst>
</file>

<file path=ppt/tags/tag154.xml><?xml version="1.0" encoding="utf-8"?>
<p:tagLst xmlns:p="http://schemas.openxmlformats.org/presentationml/2006/main">
  <p:tag name="KSO_WM_BEAUTIFY_FLAG" val=""/>
</p:tagLst>
</file>

<file path=ppt/tags/tag155.xml><?xml version="1.0" encoding="utf-8"?>
<p:tagLst xmlns:p="http://schemas.openxmlformats.org/presentationml/2006/main">
  <p:tag name="KSO_WM_BEAUTIFY_FLAG" val=""/>
</p:tagLst>
</file>

<file path=ppt/tags/tag156.xml><?xml version="1.0" encoding="utf-8"?>
<p:tagLst xmlns:p="http://schemas.openxmlformats.org/presentationml/2006/main">
  <p:tag name="KSO_WM_BEAUTIFY_FLAG" val=""/>
</p:tagLst>
</file>

<file path=ppt/tags/tag157.xml><?xml version="1.0" encoding="utf-8"?>
<p:tagLst xmlns:p="http://schemas.openxmlformats.org/presentationml/2006/main">
  <p:tag name="KSO_WM_BEAUTIFY_FLAG" val=""/>
</p:tagLst>
</file>

<file path=ppt/tags/tag158.xml><?xml version="1.0" encoding="utf-8"?>
<p:tagLst xmlns:p="http://schemas.openxmlformats.org/presentationml/2006/main">
  <p:tag name="KSO_WM_BEAUTIFY_FLAG" val=""/>
</p:tagLst>
</file>

<file path=ppt/tags/tag159.xml><?xml version="1.0" encoding="utf-8"?>
<p:tagLst xmlns:p="http://schemas.openxmlformats.org/presentationml/2006/main">
  <p:tag name="KSO_WM_BEAUTIFY_FLAG" val=""/>
</p:tagLst>
</file>

<file path=ppt/tags/tag160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161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162.xml><?xml version="1.0" encoding="utf-8"?>
<p:tagLst xmlns:p="http://schemas.openxmlformats.org/presentationml/2006/main">
  <p:tag name="KSO_WM_BEAUTIFY_FLAG" val=""/>
</p:tagLst>
</file>

<file path=ppt/tags/tag16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6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6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6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6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6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6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7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7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7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7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7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7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7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7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7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79.xml><?xml version="1.0" encoding="utf-8"?>
<p:tagLst xmlns:p="http://schemas.openxmlformats.org/presentationml/2006/main">
  <p:tag name="KSO_WM_BEAUTIFY_FLAG" val=""/>
</p:tagLst>
</file>

<file path=ppt/tags/tag18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8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8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83.xml><?xml version="1.0" encoding="utf-8"?>
<p:tagLst xmlns:p="http://schemas.openxmlformats.org/presentationml/2006/main">
  <p:tag name="KSO_WM_BEAUTIFY_FLAG" val=""/>
</p:tagLst>
</file>

<file path=ppt/tags/tag184.xml><?xml version="1.0" encoding="utf-8"?>
<p:tagLst xmlns:p="http://schemas.openxmlformats.org/presentationml/2006/main">
  <p:tag name="KSO_WM_BEAUTIFY_FLAG" val=""/>
</p:tagLst>
</file>

<file path=ppt/tags/tag185.xml><?xml version="1.0" encoding="utf-8"?>
<p:tagLst xmlns:p="http://schemas.openxmlformats.org/presentationml/2006/main">
  <p:tag name="KSO_WM_BEAUTIFY_FLAG" val=""/>
</p:tagLst>
</file>

<file path=ppt/tags/tag186.xml><?xml version="1.0" encoding="utf-8"?>
<p:tagLst xmlns:p="http://schemas.openxmlformats.org/presentationml/2006/main">
  <p:tag name="KSO_WM_BEAUTIFY_FLAG" val=""/>
</p:tagLst>
</file>

<file path=ppt/tags/tag187.xml><?xml version="1.0" encoding="utf-8"?>
<p:tagLst xmlns:p="http://schemas.openxmlformats.org/presentationml/2006/main">
  <p:tag name="KSO_WM_BEAUTIFY_FLAG" val=""/>
</p:tagLst>
</file>

<file path=ppt/tags/tag188.xml><?xml version="1.0" encoding="utf-8"?>
<p:tagLst xmlns:p="http://schemas.openxmlformats.org/presentationml/2006/main">
  <p:tag name="KSO_WM_BEAUTIFY_FLAG" val=""/>
</p:tagLst>
</file>

<file path=ppt/tags/tag189.xml><?xml version="1.0" encoding="utf-8"?>
<p:tagLst xmlns:p="http://schemas.openxmlformats.org/presentationml/2006/main">
  <p:tag name="KSO_WM_BEAUTIFY_FLAG" val=""/>
</p:tagLst>
</file>

<file path=ppt/tags/tag190.xml><?xml version="1.0" encoding="utf-8"?>
<p:tagLst xmlns:p="http://schemas.openxmlformats.org/presentationml/2006/main">
  <p:tag name="KSO_WM_BEAUTIFY_FLAG" val=""/>
</p:tagLst>
</file>

<file path=ppt/tags/tag191.xml><?xml version="1.0" encoding="utf-8"?>
<p:tagLst xmlns:p="http://schemas.openxmlformats.org/presentationml/2006/main">
  <p:tag name="KSO_WM_BEAUTIFY_FLAG" val=""/>
</p:tagLst>
</file>

<file path=ppt/tags/tag192.xml><?xml version="1.0" encoding="utf-8"?>
<p:tagLst xmlns:p="http://schemas.openxmlformats.org/presentationml/2006/main">
  <p:tag name="KSO_WM_BEAUTIFY_FLAG" val=""/>
</p:tagLst>
</file>

<file path=ppt/tags/tag193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194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195.xml><?xml version="1.0" encoding="utf-8"?>
<p:tagLst xmlns:p="http://schemas.openxmlformats.org/presentationml/2006/main">
  <p:tag name="KSO_WM_BEAUTIFY_FLAG" val=""/>
</p:tagLst>
</file>

<file path=ppt/tags/tag196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3414</Words>
  <Application>WPS 演示</Application>
  <PresentationFormat>宽屏</PresentationFormat>
  <Paragraphs>176</Paragraphs>
  <Slides>16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16</vt:i4>
      </vt:variant>
    </vt:vector>
  </HeadingPairs>
  <TitlesOfParts>
    <vt:vector size="27" baseType="lpstr">
      <vt:lpstr>Arial</vt:lpstr>
      <vt:lpstr>宋体</vt:lpstr>
      <vt:lpstr>Wingdings</vt:lpstr>
      <vt:lpstr>微软雅黑</vt:lpstr>
      <vt:lpstr>Wingdings</vt:lpstr>
      <vt:lpstr>DIN-BoldItalic</vt:lpstr>
      <vt:lpstr>等线</vt:lpstr>
      <vt:lpstr>思源宋体</vt:lpstr>
      <vt:lpstr>JetBrainsMono NF</vt:lpstr>
      <vt:lpstr>1_自定义设计方案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1149</cp:revision>
  <dcterms:created xsi:type="dcterms:W3CDTF">2019-06-19T02:08:00Z</dcterms:created>
  <dcterms:modified xsi:type="dcterms:W3CDTF">2026-05-21T06:41:24Z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8803273D7153482EAEFB5526C0EF2689_13</vt:lpwstr>
  </property>
</Properties>
</file>