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8"/>
  </p:notesMasterIdLst>
  <p:handoutMasterIdLst>
    <p:handoutMasterId r:id="rId59"/>
  </p:handoutMasterIdLst>
  <p:sldIdLst>
    <p:sldId id="2859" r:id="rId4"/>
    <p:sldId id="2912" r:id="rId5"/>
    <p:sldId id="2911" r:id="rId6"/>
    <p:sldId id="2910" r:id="rId7"/>
    <p:sldId id="2909" r:id="rId8"/>
    <p:sldId id="2908" r:id="rId9"/>
    <p:sldId id="2907" r:id="rId10"/>
    <p:sldId id="2906" r:id="rId11"/>
    <p:sldId id="2905" r:id="rId12"/>
    <p:sldId id="2904" r:id="rId13"/>
    <p:sldId id="2903" r:id="rId14"/>
    <p:sldId id="2902" r:id="rId15"/>
    <p:sldId id="2901" r:id="rId16"/>
    <p:sldId id="2900" r:id="rId17"/>
    <p:sldId id="2899" r:id="rId18"/>
    <p:sldId id="2898" r:id="rId19"/>
    <p:sldId id="2897" r:id="rId20"/>
    <p:sldId id="2896" r:id="rId21"/>
    <p:sldId id="2895" r:id="rId22"/>
    <p:sldId id="2894" r:id="rId23"/>
    <p:sldId id="2893" r:id="rId24"/>
    <p:sldId id="2892" r:id="rId25"/>
    <p:sldId id="2891" r:id="rId26"/>
    <p:sldId id="2890" r:id="rId27"/>
    <p:sldId id="2889" r:id="rId28"/>
    <p:sldId id="2888" r:id="rId29"/>
    <p:sldId id="2887" r:id="rId30"/>
    <p:sldId id="2886" r:id="rId31"/>
    <p:sldId id="2885" r:id="rId32"/>
    <p:sldId id="2884" r:id="rId33"/>
    <p:sldId id="2883" r:id="rId34"/>
    <p:sldId id="2882" r:id="rId35"/>
    <p:sldId id="2881" r:id="rId36"/>
    <p:sldId id="2880" r:id="rId37"/>
    <p:sldId id="2879" r:id="rId38"/>
    <p:sldId id="2878" r:id="rId39"/>
    <p:sldId id="2877" r:id="rId40"/>
    <p:sldId id="2876" r:id="rId41"/>
    <p:sldId id="2875" r:id="rId42"/>
    <p:sldId id="2874" r:id="rId43"/>
    <p:sldId id="2873" r:id="rId44"/>
    <p:sldId id="2872" r:id="rId45"/>
    <p:sldId id="2871" r:id="rId46"/>
    <p:sldId id="2870" r:id="rId47"/>
    <p:sldId id="2869" r:id="rId48"/>
    <p:sldId id="2868" r:id="rId49"/>
    <p:sldId id="2867" r:id="rId50"/>
    <p:sldId id="2866" r:id="rId51"/>
    <p:sldId id="2865" r:id="rId52"/>
    <p:sldId id="2864" r:id="rId53"/>
    <p:sldId id="2863" r:id="rId54"/>
    <p:sldId id="2862" r:id="rId55"/>
    <p:sldId id="2861" r:id="rId56"/>
    <p:sldId id="2860" r:id="rId57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110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notesMaster" Target="notesMasters/notesMaster1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中的词嵌入与位置编码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首先，我们需要认识到：计算机无法直接处理我们书写的文字，它们只能识别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数字。同样地，模型也不能直接理解我们的自然语言输入，第一步是将每一个词语转化为一个唯一的编号，这个过程叫做分词与编码（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Tokenization and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。例如，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我喜欢自然语言处理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这句话会被分词器拆解为：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。接着，每个词都会被映射成一个整数编号，比如：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[100, 3456, 7890, 2345, 6789]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。这个编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号来自一个庞大的词汇表，也就是所谓的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，它是模型训练时就确定好的。每一种语言模型都对应着一个特定的词典。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是一个用于中文文本处理的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Python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库，主要用于中文分词。它可以帮助我们将一段连续的中文文本切分成一个个有意义的词语，便于后续的自然语言处理任务，比如文本分析、关键词提取、词频统计等。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的使用非常简单，支持多种分词模式，包括精确模式、全模式和搜索引擎模式。精确模式适合对准确度要求较高的场景，全模式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会把句子尽可能多地切分成词语，适合快速扫描，而搜索引擎模式则会在精确模式的基础上进一步细分长词，提升召回率。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除了基本的分词功能，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还支持用户自定义词典，这样可以将一些专业术语或者特定领域的词汇加入到分词器中，提高分词的准确性。此外，它还提供了关键词提取、词性标注等功能，方便进行更深入的文本分析。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总的来说，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是一个功能强大且易于使用的中文分词工具，广泛应用于数据挖掘、信息检索和自然语言处理等领域。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当前任务是基于项目一任务一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的环境进行。请确保已经完成项目一任务一的步骤。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安装成功后输出如图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安装日志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对一段进行分词，比较不同分词模式的输出差异：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添加自定义词典提升效果，创建一个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custom_dict.txt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文件，内容如下：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修改代码，对比自定义词典前后的分词效果：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发现新大陆集团、智慧支付、智能识别等自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定义词典中的词汇，被切分为单独的词汇。综上，采用自定义词典的方式，可以提升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对一些特定名词或专业术语的切分效果，保证词汇的完整性，如图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自定义词典分词结果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分词器使用的是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算法，是一种基于子词（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）的无监督分词方法。不依赖外部词典，而是通过大量中文语料训练出一个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不是把整个词作为一个单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位（像传统中文分词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那样），也不是按字符切分（一个字一个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），而是介于两者之间。它会根据语料库中出现频率，学习出一组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常见子词单元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）。这些子词可能是完整的词，也可能是一个词的一部分。比如单词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"unhappiness"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可能会把它拆成：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"un", "happy", "##ness"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##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表示这个子词是前面那个词的一部分。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bert-base-chinese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分词代码，得到分词结果如图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 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我们会发现每个汉字都被单独切分成一个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。这是因为训练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中文模型的时候，并没有使用传统的词语作为基本单位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，而是以单个汉字为最小单位进行训练的。也就是说，在中文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算法学到的基本单位是「汉字」，而不是像英文那样的词根或前缀后缀。这一设计主要源于中文语言的特点：中文没有天然的空格分隔，词语边界模糊，若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以传统词语为基本单位进行建模，不仅容易产生切分歧义（例如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），还会频繁遇到未登录词（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）问题，导致模型泛化能力下降。相比之下，以单字作为基础单位能够灵活组合出各种词汇，从而有效降低未登录词的影响。尽管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算法本身具备统计合并常见子词的能力，但在中文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的训练过程中，由于语料分布和分词偏好的影响，算法往往更倾向于维持单字切分，使得模型最终以汉字为基本粒度进行语义表示。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（通义千问）是阿里巴巴集团旗下的通义实验室自主研发的超大规模语言模型。它能够回答问题、创作文字，支持多语言交流，并具备逻辑推理、编程、内容生成等多种能力。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通过大量互联网文本进行训练，拥有广泛的知识和强大的语言理解与表达能力，适用于多种应用场景，如智能客服、内容创作、教育辅助等。而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大模型配套使用的分词器。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分词器属于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Unigram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tencePiece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是一种无监督的子词（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）分词算法，它不需要依赖任何人工编写的词典或规则。它可以直接从原始文本中学习出一个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，然后根据这个词汇表把句子切分成一个个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（也就是模型能理解的最小单位）。类似于人类学语言：刚开始听不懂一句话的意思，但通过不断听和统计，慢慢学会哪些是常用词、哪些是组合词。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分词器的工作流程可以通过一个具体例子来说明。首先在训练阶段，模型需要从大量语料中学习常用的子词组合，例如训练语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料包含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我正在学习人工智能和无人驾驶技术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无人驾驶是未来交通的重要发展方向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汽车是我们日常生活中常见的交通工具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无人机和无人超市也属于智能系统的一部分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驾驶是一项需要专注的技能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等句子。通过统计这些句子中字符或子词共现的频率，模型构建出一个子词表，其中收录了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等常见组合。当模型进入推理阶段并遇到新句子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时，它会尝试多种可能的切分方式，比如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等，然后根据训练阶段学到的概率分布，选择概率最高的切分结果。由于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在训练语料中频繁出现，模型最终会选择将它们各自作为一个子词进行切分，得到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这样的分词结果。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执行该脚本：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 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可以看出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分词器得到的分词结果，能够较好的将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人工智能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等特定名词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分为一个词汇，保持较好的切分粒度与分词结果。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中的词嵌入与位置编码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在上个章节，我们对原始输入进行了分词处理，使用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进行分词的时候，除了将原始输入切分为一个个词汇，还会将其转换为特定的编码序号。本章节将会继续对词汇转换成的特定编码序号进行进一步处理，将其转换为代表词汇语义的高维向量。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正确安装后，得到如图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运行词嵌入与位置编码的代码脚本：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词嵌入与位置编码可视化分析运行结果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输出的可视化结果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将会以图像的形式保存到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目录下，接下来我们对词嵌入与位置编码的内容做详细的分析。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将编号映射为向量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上个章节中仅仅把词汇变成编号还不够，因为这样的编号之间没有实际意义。为了让模型理解词语之间的语义关系，我们需要将这些编号进一步转换为高维空间中的向量，这就是词嵌入（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）的作用。例如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虽然字面上不同，但在语义上非常接近。如果我们在二维空间中用点来表示它们的词嵌入向量，我们会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发现这两个点靠得很近。这种表示方式使得模型能够理解词语之间的相似性、反义性等语义特征。词嵌入的本质是通过大量语料训练出来的高维向量，通常维度为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或更高。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编写词嵌入的代码如下：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BERT Embedding Analysis (English Version)
Goal: Understand how word embeddings encode semantics and positional encodings add structural 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nformation.
"""
from transformers import BertModel, BertTokenizer
from sklearn.metrics.pairwise import cosine_similarity
from sklearn.decomposition import PCA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Matplotlib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字体为英文字体，避免中文字体缺失问题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plt.rcParams['font.sans-serif'] = ['Deja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Vu Sans']
plt.rcParams['axes.unicode_minus'] = False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避免负号显示异常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创建文件夹保存图像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os.makedirs('embeddings_analysis', exist_ok=True)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加载预训练的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模型和分词器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model_name = "bert-base-uncased"
print("Model loaded successfully: BERT")
"""
Analyze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how word embeddings capture semantic relationships.
Visualize in reduced space using PCA.
"""
print("\n" + "="*50)
print("Word Embedding Analysis: Semantic Encoding")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测试词对（尽量选择语义相关性强的词）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word_pairs = [
("king", "queen")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
("man", "woman"),
("Beijing", "Shanghai"),
("happy", "sad"),
("phone", "computer")
]
embeddings = []
labels = []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词嵌入之前，需要对原始输入进行分词与编码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torch.no_grad():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提取第一个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的嵌入（不包括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print(f"Similarity between '{w1}' and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'{w2}': {sim:.4f}")
embeddings.extend([emb1, emb2])
labels.extend([w1, w2])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PCA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将高维向量降维到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2D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绘图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plt.figure(figsize=(10, 8))
plt.scatter(emb_2d[i, 0], emb_2d[i, 1], label=label)
plt.annotate(label, (emb_2d[i, 0], emb_2d[i, 1]))
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plt.title("Word Embedding Semantic Space (PCA Reduced)")
plt.xlabel("PCA Component 1")
plt.ylabel("PCA Component 2")
plt.legend()
plt.grid(True)
plt.savefig('embeddings_analysis/word_embeddings.png', dpi=300, bbox_inches='tight')
plt.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对以下词汇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("king", "queen"),("man", "woman"),("Beijing", "Shanghai"),("happy", "sad"),("phone", "computer")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进行词嵌入后，每个词汇得到维度为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的向量。为了方便我们观测每个词汇之间的语义相关性，我们采用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降维算法，可视化高维向量，得到输出如图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下面使用项目一任务一任务实施四、使用可视化工具查看注意力机制步骤中在本地启动的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如果服务未启动请重新运行下面代码。若没退出服务则直接跳过下面代码直接访问网址即可。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图片地址为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//192.168.133.145:40227/embeddings_analysis/word_embeddings.png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，每一对词汇，它们的语义相关性较强，因此在降维后的坐标中距离也更近。由此可见，词嵌入能够通过将词汇映射到高纬度的空间中，通过词嵌入得到的向量，如果语义相近则向量距离相近，语义差别较大则向量距离较远。基于这些代表语义的高维向量，模型才能理解我们人类的自然语言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告诉模型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词语的顺序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模型不像传统的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RNN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那样具有序列记忆结构，它并不能天然地知道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词语是有顺序的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。为了弥补这一点，研究人员引入了位置编码（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为每个词的位置分配一个对应的向量。这些位置编码向量具有一定的数学规律，通常是根据位置索引计算得到的正弦和余弦函数组合。这样做的好处是即使遇到比训练数据更长的句子，模型也能推演出新的位置编码。可以观察到，随着位置的变化，某些维度上的数值呈现出周期性的变化趋势。这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设计既简洁又高效，使得模型能够在不依赖循环机制的情况下感知词语顺序。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位置编码的代码实现如下：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positional embeddings to understand how position is encoded.
"""
print("\n" + "="*50)
print("Position Embedding Analysis: Structural Encoding Study")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获取位置嵌入矩阵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max_pos = 128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计算相似度矩阵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热力图可视化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10))
sns.heatmap(pos_sim_matrix, cmap="YlGnBu")
plt.title(f"Position Embedding Similarity Matrix (First {max_pos} Positions)")
plt.xlabel("Position Index")
plt.ylabel("Position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Index")
plt.savefig('embeddings_analysis/position_similarity.png', dpi=300, bbox_inches='tight')
plt.show()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查看某些维度值随位置的变化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6))
plt.plot(pos_range, pos_emb[:max_pos, dim], label=f"Dim {dim}")
plt.title("Positi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 Embedding Values Across Positions")
plt.xlabel("Position Index")
plt.ylabel("Embedding Value")
plt.legend()
plt.grid()
plt.savefig('embeddings_analysis/position_values.png',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中，位置编码并不是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通过固定数学公式生成的，而是作为可训练的模型参数存在。具体来说，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使用一个位置嵌入矩阵（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embedding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）来表示不同位置的信息。在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bert-base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模型中，这个矩阵的形状为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(512, 768)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表示模型能够支持的最大序列长度（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max_position_embeddings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）。也就是说，模型最多为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个位置预先学习了对应的向量表示，例如第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个位置、第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个位置一直到第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示每个位置向量的维度大小（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hidden_size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）。这意味着每一个位置都会被表示为一个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维的向量，该维度与词嵌入（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）的维度相同，从而保证两者可以进行相加操作。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当输入一个长度为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≤ 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的序列时，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会从这个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的位置嵌入矩阵中取出前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个位置向量。随后，这些位置向量会与对应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的词嵌入向量（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）逐元素相加，从而得到包含词语语义信息和位置信息的最终输入表示，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并送入后续的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编码层进行处理。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观察不同位置词汇的位置编码之间的相关性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我们按照上述代码，对位置编码的信息做可视化处理，观察一个句子中不同位置词汇的位置编码之间的相关性，查看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&gt;/embeddings_analysis/position_similarity.p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位置编码相关性可视化分析结果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可以从图中看出这是一个位置编码相似度矩阵图（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 Similarity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，它可以帮助我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们理解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中位置嵌入是如何编码词序信息的，以及不同位置之间的向量关系。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它是一个热力图（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heatmap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），横纵坐标都是位置索引（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0~127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）。每个格子的颜色表示两个位置嵌入向量之间的余弦相似度（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）。颜色含义：颜色越深（偏蓝）表示相似度越高，颜色越亮（偏黄）则表示相似度越低。因此，这张图实际上展示的是：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不同位置之间的位置嵌入向量是否相似。从图中可以观察到三个关键规律如下。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对角线颜色最深（即同一位置完全相同），图中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的对角线（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i,i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）位置最深，因为：每个位置与自己计算相似度，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 =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，因此对角线始终为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相邻位置通常更相似，通过观察会发现图中靠近对角线的地方颜色偏深（如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(10,11)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(50,51)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），这说明：越接近的位置，它们的编码越相似。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这有助于模型理解：相邻词之间可能存在更紧密的语义关系，如句子中的词序关系，比如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，三个词顺序不能颠倒。就像排队一样，排在你前面的人和你靠得越近，你们的关系就越紧密。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给每个位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置分配的向量也是这样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越靠近的位置，向量越相似。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这种现象并不是人为设计的，而是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在训练过程中自动学习到的结构。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远距离位置差异通常更大，即表示远离对角线的地方颜色较亮。这说明：远离对角线的位置（例如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(10,90)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）之间的编码差异更大。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这有助于模型区分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的词语，从而更好地建模句子的结构信息。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观察不同位置词汇的位置编码的数值变化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，以观察不同位置词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汇的位置编码的数值。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位置编码数值可视化分析结果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这张图展示了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位置嵌入向量在不同维度上的数值随位置变化的情况。横轴（位置索引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Index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）：表示序列中的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0–127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）。纵轴（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 Value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）：表示该位置在某个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维度上的数值。不同颜色的曲线：表示不同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维度在各个位置上的取值变化。在代码中只选取了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个维度进行可视化，如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51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。需要注意的是在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中一共有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个维度，因此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是向量前部的维度，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是向量中后部的一个维度。代码选择这些维度只是作为示例进行观察，并没有特殊语义含义。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从图中可以观察到，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的每个维度随位置变化的方式各不相同：有些维度变化平缓，有些则波动明显，这说明不同维度以不同方式编码位置信息，多个维度组合起来共同构成每个位置的完整向量表示。同时，随着位置索引的增加，各维度的嵌入值也在持续变化，这意味着每个位置都被映射为独特的向量，从而使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能够区分句首、句中、句尾等不同位置的词语。需要注意的是，这些变化并非由固定数学公式生成，而是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在预训练过程中通过梯度下降从大规模语料中自动学习得到的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位置嵌入本质上是一个可训练的参数矩阵（大小为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），图中的曲线只是该矩阵中某些维度在不同位置上的取值情况，因此它们不一定具有严格的周期性或预设模式，而是由模型根据任务需求自适应地调整出来的。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（三）最终输入的构造：词嵌入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模型中，最终输入是由两部分组成的：词嵌入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与位置编码。这两部分通过简单的向量加法结合在一起，形成模型真正接收的输入向量。换句话说，每个词都被赋予了两个信息维度：它是什么（语义），以及它在哪里（位置）。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这种设计使得模型既能理解词语本身的意义，又能理解它们在句子中的排列顺序，从而实现对整个句子的全面建模。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位置编码实现的代码如下：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the combination of word and positional embeddings.
Compare pure word, pur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 position, and combined spaces.
"""
print("\n" + "="*50)
print("Joint Analysis: Interaction of Word and Position Embeddings")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使用英文句子代替中文句子以避免字体警告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 = "Natural language processing is interesting"
with torch.no_g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提取词嵌入和位置嵌入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实际使用的组合嵌入（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是相加）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合并三组数据做统一降维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tokens = ['[CLS]'] + tokenizer.tokenize(sentence) + ['[SEP]']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标签生成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token_labels = [f"Tok{i}: {t}" for i, t in enumerate(tokens)]
plt.figure(figsize=(15, 5))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t(1, 3, 1)
plt.scatter(components[i, 0], components[i, 1], label=label)
plt.annotate(label.split(":")[1], (components[i, 0], components[i, 1]))
plt.title("Pure Word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纯位置嵌入空间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plt.subplot(1, 3, 2)
plt.scatt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er(components[i+len(tokens), 0], components[i+len(tokens), 1], label=f"Pos{i}")
plt.annotate(f"Pos{i}", (components[i+len(tokens), 0], components[i+len(tokens), 1]))
plt.title("Pure Position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ubplot(1, 3, 3)
plt.scatter(components[i+2*len(tokens), 0], components[i+2*len(tokens), 1], label=label)
plt.annotate(label.split(":")[1], (components[i+2*len(tokens), 0], components[i+2*len(tokens), 1]))
plt.title("Combined Embedding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Space")
plt.grid()
plt.tight_layout()
plt.savefig('embeddings_analysis/joint_embeddings.png',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假设输入句子为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“Natural language processing is interesting”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位置编码的结果图见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embeddings_analysis/joint_embeddi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这张图由三部分组成（三个子图）：纯词嵌入空间（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Word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）、纯位置编码空间（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Positional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）、组合后的嵌入空间（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Combined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）。每个子图中都展示了一些点（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position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），并标注了它们的名称。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第一部分：纯词嵌入空间。该图展示的是词语本身的语义信息。每个点代表一个词（如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[CLS], natural, language, processing, is, interesting,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）。如果两个词在语义上相近，它们在这个空间中的距离也会较近。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第二部分：纯位置编码空间。该图展示的是句子中不同位置的编码向量。每个点代表一个位置（如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pos0, pos1, ..., pos6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）。颜色或形状不同表示不同的位置索引。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第三部分：组合后的嵌入空间。展示的是词嵌入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位置编码后的最终输入向量。每个点仍然是原来的词，但它们的位置可能与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空间不同。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在这里我们留下思考：同一个词在两个空间中的位置是否发生了偏移？偏移的方向是否有规律？本任务到此就完整的将原始的自然语言输入，构造为模型能够理解并处理的最终输入：词嵌入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12665</Words>
  <Application>WPS 演示</Application>
  <PresentationFormat>宽屏</PresentationFormat>
  <Paragraphs>456</Paragraphs>
  <Slides>54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5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2026-05-21T02:55:03Z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922EB60AE9B24C129AA9879A5A54A98A_13</vt:lpwstr>
  </property>
</Properties>
</file>