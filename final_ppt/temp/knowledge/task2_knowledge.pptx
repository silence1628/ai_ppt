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30"/>
  </p:handoutMasterIdLst>
  <p:sldIdLst>
    <p:sldId id="2880" r:id="rId4"/>
    <p:sldId id="2904" r:id="rId5"/>
    <p:sldId id="2903" r:id="rId7"/>
    <p:sldId id="2902" r:id="rId8"/>
    <p:sldId id="2901" r:id="rId9"/>
    <p:sldId id="2900" r:id="rId10"/>
    <p:sldId id="2899" r:id="rId11"/>
    <p:sldId id="2898" r:id="rId12"/>
    <p:sldId id="2897" r:id="rId13"/>
    <p:sldId id="2896" r:id="rId14"/>
    <p:sldId id="2895" r:id="rId15"/>
    <p:sldId id="2894" r:id="rId16"/>
    <p:sldId id="2893" r:id="rId17"/>
    <p:sldId id="2892" r:id="rId18"/>
    <p:sldId id="2891" r:id="rId19"/>
    <p:sldId id="2890" r:id="rId20"/>
    <p:sldId id="2889" r:id="rId21"/>
    <p:sldId id="2888" r:id="rId22"/>
    <p:sldId id="2887" r:id="rId23"/>
    <p:sldId id="2886" r:id="rId24"/>
    <p:sldId id="2885" r:id="rId25"/>
    <p:sldId id="2884" r:id="rId26"/>
    <p:sldId id="2883" r:id="rId27"/>
    <p:sldId id="2882" r:id="rId28"/>
    <p:sldId id="2881" r:id="rId29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2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32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gs" Target="tags/tag199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8" Type="http://schemas.openxmlformats.org/officeDocument/2006/relationships/slideLayout" Target="../slideLayouts/slideLayout15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81.xml"/><Relationship Id="rId1" Type="http://schemas.openxmlformats.org/officeDocument/2006/relationships/tags" Target="../tags/tag17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2" Type="http://schemas.openxmlformats.org/officeDocument/2006/relationships/notesSlide" Target="../notesSlides/notesSlide2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98.xml"/><Relationship Id="rId1" Type="http://schemas.openxmlformats.org/officeDocument/2006/relationships/tags" Target="../tags/tag18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563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一、什么是提示词工程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832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三、结构化提示词与版本管理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本身擅长语言理解与生成，但它并不会天然知道当前系统的目标、边界和优先级。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则是在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LLM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基础上叠加了记忆、规划、工具调用和行动能力的系统。此时，提示词起到的作用就不再只是发起一次对话，而是持续塑造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的决策逻辑。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例如，在一个客服智能体中，提示词可以规定：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你是售后服务助手，不是销售顾问。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先判断用户问题类别，再决定是否查询知识库。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若知识库无答案，不允许编造，必须明确告知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暂无法确认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输出必须包含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问题判断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处理建议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是否需要人工介入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三个字段。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几句话看似自然语言，实则已经在约束智能体的角色、流程、容错机制和输出结构。提示词写得越清晰，智能体的行为越可控；提示词写得越模糊，智能体越容易漂移。一个优质提示词，通常要兼顾以下三个目标：</a:t>
            </a:r>
            <a:endParaRPr 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确定性并不是要求模型每次一字不差，而是要求模型在相同输入下尽量给出风格稳定、结构稳定、结论边界稳定的回答。对于企业级智能体而言，稳定性往往比偶尔的一次惊艳回答更重要。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逻辑性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逻辑性是指提示词要让模型清楚：先做什么，再做什么；依据什么判断；遇到异常怎么办；什么情况下该拒绝回答。逻辑清楚，模型的中间推理和最终输出才不容易跳步。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效率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效率既包括模型响应效率，也包括开发效率和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成本。一个优质提示词不应堆砌无关描述，而应在有限上下文内，把最关键的约束表达清楚。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所示，可将三者关系概括为：确定性保证可用，逻辑性保证可信，效率保证可落地。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影响大模型回复的因素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提示词的质量直接决定智能体输出的效果。下面通过同一任务场景的两种系统提示词写法，展示优化前后的差异。</a:t>
            </a:r>
            <a:endParaRPr 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糟糕的提示词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我们可以对这个提示词进行分析，如表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1-1- 8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从应用场景、角色设计、上下文要求等因素来总结它存在的问题：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简陋提示词的潜在问题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角色太泛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未定义具体领域身份，模型不知道以何种专业角度回答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缺少上下文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没有说明业务场景，无法准确理解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用户的问题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无流程要求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模型不知道应先分类、再检索还是直接回答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无输出约束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回答格式不固定，后续程序难以解析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优化后的提示词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根据测试初版提示词中发生的问题，如表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1-1- 9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提出解决问题的约束，优化出新的提示词版本：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提示词优化逻辑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明确角色与业务范围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限定为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智能门锁售后支持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，缩小任务边界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增加步骤约束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引导模型按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诊断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补全信息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拒答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顺序处理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增加拒答规则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明确禁止编造，降低幻觉风险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固定输出格式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便于程序自动化解析，减少后处理成本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89112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一、什么是提示词工程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21144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当我们输入一句提示词时，模型会把整段上下文编码成内部向量表示，然后基于训练中学到的模式，预测下一个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的概率分布。如图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今天天气很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之后，模型可能会认为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等词都有不同概率。最终输出什么，取决于上下文、模型参数以及采样方式。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大模型输出原理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意味着模型输出不是从零开始编一个答案，而是基于上文判断下文概率最高的延续。因此如果提示词模糊，模型会在更多可能性中摇摆，输出更不稳定；反之如果提示词明确，概率空间被压缩，模型更容易落在期望答案附近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因此，提示词工程的核心之一，就是通过清晰的上下文和明确的约束，把模型的概率分布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到更可控的区域。许多初学者会认为，只要把任务说出来就够了。实际上，在大模型场景中，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说什么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只是目标层，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怎么说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决定了模型如何理解这个目标。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例如，下面两个提示词表面上都在要求总结文章：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者的差别不在是否要求总结，而在于第二种写法明确了身份、读者、提取维度、长度和风格，从而显著提升了输出质量。换句话说，模型并不是听懂一句话就能自动补全所有隐含要求，它更像一个极其强大但需要明确边界的执行者。提示词写法越清楚，模型越容易朝正确方向生成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更进一步，除了明确身份、维度、长度和风格外，还有一种更直接、更强大的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怎么说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方式：给模型提供示例（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总结文章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为例。即使你已经写好了第二种提示词（明确了身份、读者、提取维度和风格），模型在处理不同文章时，依然可能在某些细节上偏离预期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核心观点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写成了两句话，或者在企业启示部分写得过于空泛。这时，你可以在提示词中直接放入一个真实的输入输出示例，让模型照模板来回复。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比如，针对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总结文章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的任务，可以这样构造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few-shot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提示词：将这段提示词复制到步骤（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）中第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版提示词的末尾。通过这个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示例，模型不仅知道你要什么维度的信息，还看到了每个维度应该写多长、用什么句式、观点和事实如何分离。相比于只有指令的第二版提示词，加上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few-shot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后，输出的稳定性和一致性会再次明显提升。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5382794" y="3951605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5236109" y="2458720"/>
            <a:ext cx="1892300" cy="1892300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4388270" y="513778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826024" y="293687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  <a:sym typeface="+mn-ea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  <a:sym typeface="+mn-ea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594000" y="516699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一、什么是提示词工程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1443301" y="1852930"/>
            <a:ext cx="2087245" cy="2570480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2033216" y="30016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文本框1"/>
          <p:cNvSpPr txBox="1"/>
          <p:nvPr>
            <p:custDataLst>
              <p:tags r:id="rId13"/>
            </p:custDataLst>
          </p:nvPr>
        </p:nvSpPr>
        <p:spPr>
          <a:xfrm>
            <a:off x="8146800" y="5168265"/>
            <a:ext cx="36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的工作原理简述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圆角矩形 34"/>
          <p:cNvSpPr/>
          <p:nvPr>
            <p:custDataLst>
              <p:tags r:id="rId14"/>
            </p:custDataLst>
          </p:nvPr>
        </p:nvSpPr>
        <p:spPr>
          <a:xfrm rot="2700000">
            <a:off x="8998585" y="2482850"/>
            <a:ext cx="1892300" cy="189230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圆角矩形 38"/>
          <p:cNvSpPr/>
          <p:nvPr>
            <p:custDataLst>
              <p:tags r:id="rId15"/>
            </p:custDataLst>
          </p:nvPr>
        </p:nvSpPr>
        <p:spPr>
          <a:xfrm rot="2700000">
            <a:off x="9251214" y="2748280"/>
            <a:ext cx="1387475" cy="1387475"/>
          </a:xfrm>
          <a:prstGeom prst="roundRect">
            <a:avLst>
              <a:gd name="adj" fmla="val 631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9603004" y="290893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任意多边形 42"/>
          <p:cNvSpPr/>
          <p:nvPr>
            <p:custDataLst>
              <p:tags r:id="rId17"/>
            </p:custDataLst>
          </p:nvPr>
        </p:nvSpPr>
        <p:spPr>
          <a:xfrm>
            <a:off x="9143311" y="1760220"/>
            <a:ext cx="1940560" cy="114871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构建大模型的系统提示词时，结构化设计是确保模型输出稳定性、准确性和专业性的核心。相比于碎片化的指令，结构化的提示词能够为模型建立一个清晰的逻辑框架。其核心思想是将复杂的任务拆解为若干个标准化的模块。通过清晰的分隔符和逻辑层次，引导模型更精准地理解意图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一个成熟的结构化提示词通常包含以下五个核心模块：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角色设定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(Role)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：定义模型的身分。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背景信息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(Context)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：提供任务的上下文或目标受众。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任务目标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(Task)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：明确模型需要执行的具体动作。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约束与规则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(Constraints)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：规定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不能做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的边界。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输出格式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(Output)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：规定返回结果的形式。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在一组系统提示词中，相对于编辑成一段的长文本，模型更容易识别具有物理边界的段落结构。因此建议使用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Markdown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标题、分隔符（如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---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###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）或特定的标签（如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&lt;Task&gt;&lt;/Task&gt;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）来组织内容。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结构化构建不仅是为了提升模型表现，更是为了可维护性。当输出不符合预期时，你可以快速定位是角色设定不够具体，还是约束条件存在冲突，从而进行针对性的优化，将提示词工程从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玄学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转化为科学的迭代过程。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很多初学者在调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Prompt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时，常见问题不是不会写，而是改乱了。改了一句之后效果变好还是变差，说不清；模型参数变了还是提示词变了，也记不住。久而久之，优化过程变成了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玄学试错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因此，提示词工程必须建立版本管理意识。至少要做到以下几点：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每次修改只改一个关键变量，例如只改角色描述，或只改输出格式。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Prompt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版本编号，例如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v1.0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v1.1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v2.0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记录修改目的，例如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增加拒答机制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优化表格输出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减少废话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固定测试样本，避免每次都换问题导致无法公平比较。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记录评估结果，包括准确率、完整性、格式稳定性、是否出现幻觉。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一个简单的版本记录表例如表：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提示词版本迭代记录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版本号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修改内容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修改目的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测试样本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结果评价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v1.0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初始版本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完成基础问答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个用户问题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输出较泛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v1.1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增加角色和业务背景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提升专业性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更贴近场景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v1.2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增加输出格式和拒答规则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提升稳定性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同样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结构更统一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7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8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79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0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1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2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3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4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5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6.xml><?xml version="1.0" encoding="utf-8"?>
<p:tagLst xmlns:p="http://schemas.openxmlformats.org/presentationml/2006/main">
  <p:tag name="KSO_WM_DIAGRAM_VIRTUALLY_FRAME" val="{&quot;height&quot;:333.6,&quot;left&quot;:18.55,&quot;top&quot;:138.6,&quot;width&quot;:957.2494488188977}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9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1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8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29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0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1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2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3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4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5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6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7.xml><?xml version="1.0" encoding="utf-8"?>
<p:tagLst xmlns:p="http://schemas.openxmlformats.org/presentationml/2006/main">
  <p:tag name="KSO_WM_DIAGRAM_VIRTUALLY_FRAME" val="{&quot;height&quot;:312,&quot;left&quot;:46.386771653543285,&quot;top&quot;:138.6,&quot;width&quot;:929.4126771653544}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4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5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2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3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4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5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6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7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8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69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70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71.xml><?xml version="1.0" encoding="utf-8"?>
<p:tagLst xmlns:p="http://schemas.openxmlformats.org/presentationml/2006/main">
  <p:tag name="KSO_WM_DIAGRAM_VIRTUALLY_FRAME" val="{&quot;height&quot;:304.7015748031496,&quot;left&quot;:45.236771653543286,&quot;top&quot;:138.6,&quot;width&quot;:896.7277974382536}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8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3303</Words>
  <Application>WPS 演示</Application>
  <PresentationFormat>宽屏</PresentationFormat>
  <Paragraphs>224</Paragraphs>
  <Slides>25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2026-05-23T11:54:49Z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BACFC57A88024C61AE4237DB8812DB5B_13</vt:lpwstr>
  </property>
</Properties>
</file>