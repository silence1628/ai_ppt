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71" r:id="rId4"/>
  </p:sldMasterIdLst>
  <p:notesMasterIdLst>
    <p:notesMasterId r:id="rId6"/>
  </p:notesMasterIdLst>
  <p:handoutMasterIdLst>
    <p:handoutMasterId r:id="rId24"/>
  </p:handoutMasterIdLst>
  <p:sldIdLst>
    <p:sldId id="415" r:id="rId5"/>
    <p:sldId id="2437" r:id="rId7"/>
    <p:sldId id="2439" r:id="rId8"/>
    <p:sldId id="1383" r:id="rId9"/>
    <p:sldId id="2824" r:id="rId10"/>
    <p:sldId id="2825" r:id="rId11"/>
    <p:sldId id="2826" r:id="rId12"/>
    <p:sldId id="2827" r:id="rId13"/>
    <p:sldId id="2828" r:id="rId14"/>
    <p:sldId id="2829" r:id="rId15"/>
    <p:sldId id="2830" r:id="rId16"/>
    <p:sldId id="2831" r:id="rId17"/>
    <p:sldId id="2832" r:id="rId18"/>
    <p:sldId id="2833" r:id="rId19"/>
    <p:sldId id="2835" r:id="rId20"/>
    <p:sldId id="2836" r:id="rId21"/>
    <p:sldId id="2837" r:id="rId22"/>
    <p:sldId id="1698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02e774-de37-4b27-8700-364557680ee2}">
          <p14:sldIdLst>
            <p14:sldId id="415"/>
            <p14:sldId id="2437"/>
            <p14:sldId id="2439"/>
            <p14:sldId id="1383"/>
            <p14:sldId id="2824"/>
            <p14:sldId id="2825"/>
            <p14:sldId id="2826"/>
            <p14:sldId id="2827"/>
            <p14:sldId id="2828"/>
            <p14:sldId id="2829"/>
            <p14:sldId id="2830"/>
            <p14:sldId id="2831"/>
            <p14:sldId id="2832"/>
            <p14:sldId id="2833"/>
            <p14:sldId id="2835"/>
            <p14:sldId id="2836"/>
            <p14:sldId id="2837"/>
            <p14:sldId id="1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7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28"/>
        <p:guide pos="3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296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CDB3-D59E-4E14-99D6-5B04FA313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9" Type="http://schemas.openxmlformats.org/officeDocument/2006/relationships/theme" Target="../theme/theme3.xml"/><Relationship Id="rId18" Type="http://schemas.openxmlformats.org/officeDocument/2006/relationships/image" Target="../media/image2.png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7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36.xm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3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38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34.xml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openxmlformats.org/officeDocument/2006/relationships/tags" Target="../tags/tag212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58.xml"/><Relationship Id="rId23" Type="http://schemas.openxmlformats.org/officeDocument/2006/relationships/tags" Target="../tags/tag257.xml"/><Relationship Id="rId22" Type="http://schemas.openxmlformats.org/officeDocument/2006/relationships/tags" Target="../tags/tag256.xml"/><Relationship Id="rId21" Type="http://schemas.openxmlformats.org/officeDocument/2006/relationships/tags" Target="../tags/tag255.xml"/><Relationship Id="rId20" Type="http://schemas.openxmlformats.org/officeDocument/2006/relationships/tags" Target="../tags/tag254.xml"/><Relationship Id="rId2" Type="http://schemas.openxmlformats.org/officeDocument/2006/relationships/tags" Target="../tags/tag236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tags" Target="../tags/tag2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tags" Target="../tags/tag262.xml"/><Relationship Id="rId19" Type="http://schemas.openxmlformats.org/officeDocument/2006/relationships/tags" Target="../tags/tag279.xml"/><Relationship Id="rId18" Type="http://schemas.openxmlformats.org/officeDocument/2006/relationships/tags" Target="../tags/tag278.xml"/><Relationship Id="rId17" Type="http://schemas.openxmlformats.org/officeDocument/2006/relationships/tags" Target="../tags/tag277.xml"/><Relationship Id="rId16" Type="http://schemas.openxmlformats.org/officeDocument/2006/relationships/tags" Target="../tags/tag276.xml"/><Relationship Id="rId15" Type="http://schemas.openxmlformats.org/officeDocument/2006/relationships/tags" Target="../tags/tag275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image" Target="../media/image12.jpeg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293.xml"/><Relationship Id="rId10" Type="http://schemas.openxmlformats.org/officeDocument/2006/relationships/image" Target="../media/image13.png"/><Relationship Id="rId1" Type="http://schemas.openxmlformats.org/officeDocument/2006/relationships/tags" Target="../tags/tag285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1384935" y="2401888"/>
            <a:ext cx="9902825" cy="574040"/>
          </a:xfrm>
          <a:prstGeom prst="rect">
            <a:avLst/>
          </a:prstGeom>
          <a:noFill/>
        </p:spPr>
        <p:txBody>
          <a:bodyPr wrap="square" lIns="144145" bIns="36195" rtlCol="0" anchor="ctr" anchorCtr="1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第二章</a:t>
            </a:r>
            <a:r>
              <a:rPr lang="en-US" altLang="zh-CN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提示词工程</a:t>
            </a:r>
            <a:endParaRPr lang="zh-CN" altLang="en-US" sz="3200" b="1" dirty="0" smtClean="0"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784725" y="4558665"/>
            <a:ext cx="3103245" cy="4984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A2F6"/>
              </a:gs>
              <a:gs pos="100000">
                <a:srgbClr val="266FE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4980305" y="4623435"/>
            <a:ext cx="27432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Kaiti SC Bold" charset="0"/>
                <a:ea typeface="Kaiti SC Bold" charset="0"/>
                <a:cs typeface="+mn-ea"/>
                <a:sym typeface="+mn-lt"/>
              </a:rPr>
              <a:t>智能体应用初探专项实战</a:t>
            </a:r>
            <a:endParaRPr lang="zh-CN" altLang="zh-CN" b="1" dirty="0">
              <a:solidFill>
                <a:schemeClr val="bg1"/>
              </a:solidFill>
              <a:latin typeface="Kaiti SC Bold" charset="0"/>
              <a:ea typeface="Kaiti SC Bold" charset="0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1602105"/>
            <a:ext cx="6863715" cy="477647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1362075" y="624840"/>
            <a:ext cx="3579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情境导入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09510" y="3428960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introduction_image}}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1390" y="1715729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9890" y="1715770"/>
            <a:ext cx="6534785" cy="3629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某物流分拣中心每天处理上万件包裹，现有系统按固定流程操作。经理想引入新系统，让系统自己判断处理条码污损、易碎品等异常情况，并能根据实时车流调整分拣优先级。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535045" y="1271270"/>
            <a:ext cx="80340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同样是自动化，工作流和智能体有什么区别？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新系统需要具备什么功能才能在企业中稳定工作？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如何用自己的话对系统下指令来实现经理的想法？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62075" y="624840"/>
            <a:ext cx="209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思考一下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40" y="2500630"/>
            <a:ext cx="1237615" cy="2721610"/>
          </a:xfrm>
          <a:prstGeom prst="rect">
            <a:avLst/>
          </a:prstGeom>
        </p:spPr>
      </p:pic>
      <p:pic>
        <p:nvPicPr>
          <p:cNvPr id="7" name="图片 6" descr="31393935333436303b31393936353336343bcecabac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1045" y="562242"/>
            <a:ext cx="771525" cy="7715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57190" y="2889947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{{image:thinking_image}}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642620" y="3124800"/>
            <a:ext cx="53828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提示词工程</a:t>
            </a:r>
            <a:endParaRPr 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1812870" y="1985229"/>
            <a:ext cx="398145" cy="3981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6315642" y="3786753"/>
            <a:ext cx="617635" cy="6176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261" y="5867261"/>
            <a:ext cx="1714739" cy="990738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642406" y="657124"/>
            <a:ext cx="55899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1685" y="3532465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art_image}}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33565" y="1819234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30997"/>
            <a:chOff x="1019810" y="3241423"/>
            <a:chExt cx="5267818" cy="830997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30997"/>
            <a:chOff x="1019810" y="5599430"/>
            <a:chExt cx="4068621" cy="830997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>
            <a:off x="6645792" y="2466861"/>
            <a:ext cx="4068621" cy="830997"/>
            <a:chOff x="1019810" y="3241423"/>
            <a:chExt cx="4068621" cy="830997"/>
          </a:xfrm>
        </p:grpSpPr>
        <p:sp>
          <p:nvSpPr>
            <p:cNvPr id="48" name="文本框 47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3424938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7"/>
            </p:custDataLst>
          </p:nvPr>
        </p:nvGrpSpPr>
        <p:grpSpPr>
          <a:xfrm>
            <a:off x="6645792" y="3379128"/>
            <a:ext cx="4068621" cy="830997"/>
            <a:chOff x="1019810" y="5599430"/>
            <a:chExt cx="4068621" cy="830997"/>
          </a:xfrm>
        </p:grpSpPr>
        <p:sp>
          <p:nvSpPr>
            <p:cNvPr id="56" name="文本框 55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21"/>
            </p:custDataLst>
          </p:nvPr>
        </p:nvGrpSpPr>
        <p:grpSpPr>
          <a:xfrm>
            <a:off x="6645792" y="4262185"/>
            <a:ext cx="4068621" cy="830997"/>
            <a:chOff x="1019810" y="5599430"/>
            <a:chExt cx="4068621" cy="830997"/>
          </a:xfrm>
        </p:grpSpPr>
        <p:sp>
          <p:nvSpPr>
            <p:cNvPr id="60" name="文本框 59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 smtClean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提示词工程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700895" y="621030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006090" y="1358265"/>
            <a:ext cx="8279765" cy="174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本章旨在帮助学员建立提示词工程的基础认知，理解提示词在智能体系统中的核心作用，掌握提示词工程的基本目标、基本原理和基本工作环境。通过本章学习，学员将认识到：提示词并不是对模型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随口一说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，而是对智能体行为边界、推理路径和输出形式的显式设计。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 descr="tasks_2029px_1205684_easyicon.n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25" y="2726055"/>
            <a:ext cx="2023110" cy="2023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8000" y="792000"/>
            <a:ext cx="595312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描述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01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86150" y="3106738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</a:t>
            </a:r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要求：</a:t>
            </a:r>
            <a:endParaRPr lang="zh-CN" altLang="en-US" sz="2400" b="1" dirty="0" smtClean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6090" y="356743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理解提示词的价值，建立行为设计意识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06000" y="403606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能围绕确定性、逻辑性、效率三个维度分析一个提示词是否优质；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06000" y="4503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RAGFlow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工作流开展提示词测试、记录和迭代优化；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06090" y="4971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能根据场景构建提示词，约束智能体输出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提示词工程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780" y="1422400"/>
            <a:ext cx="265113" cy="2651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2"/>
          <p:cNvGrpSpPr/>
          <p:nvPr/>
        </p:nvGrpSpPr>
        <p:grpSpPr>
          <a:xfrm>
            <a:off x="901700" y="1970405"/>
            <a:ext cx="3784600" cy="3206750"/>
            <a:chOff x="4542865" y="2599283"/>
            <a:chExt cx="3785291" cy="3205882"/>
          </a:xfrm>
        </p:grpSpPr>
        <p:sp>
          <p:nvSpPr>
            <p:cNvPr id="10" name="任意多边形: 形状 9"/>
            <p:cNvSpPr>
              <a:spLocks noChangeAspect="1"/>
            </p:cNvSpPr>
            <p:nvPr/>
          </p:nvSpPr>
          <p:spPr bwMode="auto">
            <a:xfrm>
              <a:off x="4542865" y="2599283"/>
              <a:ext cx="3105717" cy="3205882"/>
            </a:xfrm>
            <a:custGeom>
              <a:avLst/>
              <a:gdLst>
                <a:gd name="connsiteX0" fmla="*/ 1670165 w 3340338"/>
                <a:gd name="connsiteY0" fmla="*/ 895968 h 3448053"/>
                <a:gd name="connsiteX1" fmla="*/ 842107 w 3340338"/>
                <a:gd name="connsiteY1" fmla="*/ 1724026 h 3448053"/>
                <a:gd name="connsiteX2" fmla="*/ 1670165 w 3340338"/>
                <a:gd name="connsiteY2" fmla="*/ 2552084 h 3448053"/>
                <a:gd name="connsiteX3" fmla="*/ 2498223 w 3340338"/>
                <a:gd name="connsiteY3" fmla="*/ 1724026 h 3448053"/>
                <a:gd name="connsiteX4" fmla="*/ 1670165 w 3340338"/>
                <a:gd name="connsiteY4" fmla="*/ 895968 h 3448053"/>
                <a:gd name="connsiteX5" fmla="*/ 1670347 w 3340338"/>
                <a:gd name="connsiteY5" fmla="*/ 830419 h 3448053"/>
                <a:gd name="connsiteX6" fmla="*/ 2564891 w 3340338"/>
                <a:gd name="connsiteY6" fmla="*/ 1724288 h 3448053"/>
                <a:gd name="connsiteX7" fmla="*/ 1670347 w 3340338"/>
                <a:gd name="connsiteY7" fmla="*/ 2617629 h 3448053"/>
                <a:gd name="connsiteX8" fmla="*/ 775280 w 3340338"/>
                <a:gd name="connsiteY8" fmla="*/ 1724288 h 3448053"/>
                <a:gd name="connsiteX9" fmla="*/ 1670347 w 3340338"/>
                <a:gd name="connsiteY9" fmla="*/ 830419 h 3448053"/>
                <a:gd name="connsiteX10" fmla="*/ 1670347 w 3340338"/>
                <a:gd name="connsiteY10" fmla="*/ 598661 h 3448053"/>
                <a:gd name="connsiteX11" fmla="*/ 543023 w 3340338"/>
                <a:gd name="connsiteY11" fmla="*/ 1724288 h 3448053"/>
                <a:gd name="connsiteX12" fmla="*/ 1670347 w 3340338"/>
                <a:gd name="connsiteY12" fmla="*/ 2849392 h 3448053"/>
                <a:gd name="connsiteX13" fmla="*/ 2797148 w 3340338"/>
                <a:gd name="connsiteY13" fmla="*/ 1724288 h 3448053"/>
                <a:gd name="connsiteX14" fmla="*/ 1670347 w 3340338"/>
                <a:gd name="connsiteY14" fmla="*/ 598661 h 3448053"/>
                <a:gd name="connsiteX15" fmla="*/ 1383667 w 3340338"/>
                <a:gd name="connsiteY15" fmla="*/ 0 h 3448053"/>
                <a:gd name="connsiteX16" fmla="*/ 1956505 w 3340338"/>
                <a:gd name="connsiteY16" fmla="*/ 0 h 3448053"/>
                <a:gd name="connsiteX17" fmla="*/ 2192343 w 3340338"/>
                <a:gd name="connsiteY17" fmla="*/ 235487 h 3448053"/>
                <a:gd name="connsiteX18" fmla="*/ 2192343 w 3340338"/>
                <a:gd name="connsiteY18" fmla="*/ 478302 h 3448053"/>
                <a:gd name="connsiteX19" fmla="*/ 2484789 w 3340338"/>
                <a:gd name="connsiteY19" fmla="*/ 652038 h 3448053"/>
                <a:gd name="connsiteX20" fmla="*/ 2699667 w 3340338"/>
                <a:gd name="connsiteY20" fmla="*/ 528013 h 3448053"/>
                <a:gd name="connsiteX21" fmla="*/ 2817586 w 3340338"/>
                <a:gd name="connsiteY21" fmla="*/ 496620 h 3448053"/>
                <a:gd name="connsiteX22" fmla="*/ 3022504 w 3340338"/>
                <a:gd name="connsiteY22" fmla="*/ 614363 h 3448053"/>
                <a:gd name="connsiteX23" fmla="*/ 3308662 w 3340338"/>
                <a:gd name="connsiteY23" fmla="*/ 1109408 h 3448053"/>
                <a:gd name="connsiteX24" fmla="*/ 3332243 w 3340338"/>
                <a:gd name="connsiteY24" fmla="*/ 1288374 h 3448053"/>
                <a:gd name="connsiteX25" fmla="*/ 3222186 w 3340338"/>
                <a:gd name="connsiteY25" fmla="*/ 1431240 h 3448053"/>
                <a:gd name="connsiteX26" fmla="*/ 3005733 w 3340338"/>
                <a:gd name="connsiteY26" fmla="*/ 1556306 h 3448053"/>
                <a:gd name="connsiteX27" fmla="*/ 3023027 w 3340338"/>
                <a:gd name="connsiteY27" fmla="*/ 1724288 h 3448053"/>
                <a:gd name="connsiteX28" fmla="*/ 3005733 w 3340338"/>
                <a:gd name="connsiteY28" fmla="*/ 1891748 h 3448053"/>
                <a:gd name="connsiteX29" fmla="*/ 3222186 w 3340338"/>
                <a:gd name="connsiteY29" fmla="*/ 2016814 h 3448053"/>
                <a:gd name="connsiteX30" fmla="*/ 3308662 w 3340338"/>
                <a:gd name="connsiteY30" fmla="*/ 2338651 h 3448053"/>
                <a:gd name="connsiteX31" fmla="*/ 3022504 w 3340338"/>
                <a:gd name="connsiteY31" fmla="*/ 2833696 h 3448053"/>
                <a:gd name="connsiteX32" fmla="*/ 2878905 w 3340338"/>
                <a:gd name="connsiteY32" fmla="*/ 2943588 h 3448053"/>
                <a:gd name="connsiteX33" fmla="*/ 2818109 w 3340338"/>
                <a:gd name="connsiteY33" fmla="*/ 2951439 h 3448053"/>
                <a:gd name="connsiteX34" fmla="*/ 2699667 w 3340338"/>
                <a:gd name="connsiteY34" fmla="*/ 2920041 h 3448053"/>
                <a:gd name="connsiteX35" fmla="*/ 2484789 w 3340338"/>
                <a:gd name="connsiteY35" fmla="*/ 2796015 h 3448053"/>
                <a:gd name="connsiteX36" fmla="*/ 2192343 w 3340338"/>
                <a:gd name="connsiteY36" fmla="*/ 2970280 h 3448053"/>
                <a:gd name="connsiteX37" fmla="*/ 2192343 w 3340338"/>
                <a:gd name="connsiteY37" fmla="*/ 3212566 h 3448053"/>
                <a:gd name="connsiteX38" fmla="*/ 1956505 w 3340338"/>
                <a:gd name="connsiteY38" fmla="*/ 3448053 h 3448053"/>
                <a:gd name="connsiteX39" fmla="*/ 1383667 w 3340338"/>
                <a:gd name="connsiteY39" fmla="*/ 3448053 h 3448053"/>
                <a:gd name="connsiteX40" fmla="*/ 1147828 w 3340338"/>
                <a:gd name="connsiteY40" fmla="*/ 3212566 h 3448053"/>
                <a:gd name="connsiteX41" fmla="*/ 1147828 w 3340338"/>
                <a:gd name="connsiteY41" fmla="*/ 2970280 h 3448053"/>
                <a:gd name="connsiteX42" fmla="*/ 854860 w 3340338"/>
                <a:gd name="connsiteY42" fmla="*/ 2796015 h 3448053"/>
                <a:gd name="connsiteX43" fmla="*/ 639981 w 3340338"/>
                <a:gd name="connsiteY43" fmla="*/ 2920041 h 3448053"/>
                <a:gd name="connsiteX44" fmla="*/ 522062 w 3340338"/>
                <a:gd name="connsiteY44" fmla="*/ 2951439 h 3448053"/>
                <a:gd name="connsiteX45" fmla="*/ 460743 w 3340338"/>
                <a:gd name="connsiteY45" fmla="*/ 2943588 h 3448053"/>
                <a:gd name="connsiteX46" fmla="*/ 318190 w 3340338"/>
                <a:gd name="connsiteY46" fmla="*/ 2833696 h 3448053"/>
                <a:gd name="connsiteX47" fmla="*/ 31509 w 3340338"/>
                <a:gd name="connsiteY47" fmla="*/ 2338122 h 3448053"/>
                <a:gd name="connsiteX48" fmla="*/ 117985 w 3340338"/>
                <a:gd name="connsiteY48" fmla="*/ 2016291 h 3448053"/>
                <a:gd name="connsiteX49" fmla="*/ 334438 w 3340338"/>
                <a:gd name="connsiteY49" fmla="*/ 1891748 h 3448053"/>
                <a:gd name="connsiteX50" fmla="*/ 317144 w 3340338"/>
                <a:gd name="connsiteY50" fmla="*/ 1724288 h 3448053"/>
                <a:gd name="connsiteX51" fmla="*/ 334438 w 3340338"/>
                <a:gd name="connsiteY51" fmla="*/ 1556306 h 3448053"/>
                <a:gd name="connsiteX52" fmla="*/ 117985 w 3340338"/>
                <a:gd name="connsiteY52" fmla="*/ 1431240 h 3448053"/>
                <a:gd name="connsiteX53" fmla="*/ 31509 w 3340338"/>
                <a:gd name="connsiteY53" fmla="*/ 1109408 h 3448053"/>
                <a:gd name="connsiteX54" fmla="*/ 318190 w 3340338"/>
                <a:gd name="connsiteY54" fmla="*/ 614363 h 3448053"/>
                <a:gd name="connsiteX55" fmla="*/ 460743 w 3340338"/>
                <a:gd name="connsiteY55" fmla="*/ 504465 h 3448053"/>
                <a:gd name="connsiteX56" fmla="*/ 522062 w 3340338"/>
                <a:gd name="connsiteY56" fmla="*/ 496620 h 3448053"/>
                <a:gd name="connsiteX57" fmla="*/ 639981 w 3340338"/>
                <a:gd name="connsiteY57" fmla="*/ 528013 h 3448053"/>
                <a:gd name="connsiteX58" fmla="*/ 854860 w 3340338"/>
                <a:gd name="connsiteY58" fmla="*/ 652038 h 3448053"/>
                <a:gd name="connsiteX59" fmla="*/ 1147828 w 3340338"/>
                <a:gd name="connsiteY59" fmla="*/ 478302 h 3448053"/>
                <a:gd name="connsiteX60" fmla="*/ 1147828 w 3340338"/>
                <a:gd name="connsiteY60" fmla="*/ 235487 h 3448053"/>
                <a:gd name="connsiteX61" fmla="*/ 1383667 w 3340338"/>
                <a:gd name="connsiteY61" fmla="*/ 0 h 344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40338" h="3448053">
                  <a:moveTo>
                    <a:pt x="1670165" y="895968"/>
                  </a:moveTo>
                  <a:cubicBezTo>
                    <a:pt x="1212841" y="895968"/>
                    <a:pt x="842107" y="1266702"/>
                    <a:pt x="842107" y="1724026"/>
                  </a:cubicBezTo>
                  <a:cubicBezTo>
                    <a:pt x="842107" y="2181350"/>
                    <a:pt x="1212841" y="2552084"/>
                    <a:pt x="1670165" y="2552084"/>
                  </a:cubicBezTo>
                  <a:cubicBezTo>
                    <a:pt x="2127489" y="2552084"/>
                    <a:pt x="2498223" y="2181350"/>
                    <a:pt x="2498223" y="1724026"/>
                  </a:cubicBezTo>
                  <a:cubicBezTo>
                    <a:pt x="2498223" y="1266702"/>
                    <a:pt x="2127489" y="895968"/>
                    <a:pt x="1670165" y="895968"/>
                  </a:cubicBezTo>
                  <a:close/>
                  <a:moveTo>
                    <a:pt x="1670347" y="830419"/>
                  </a:moveTo>
                  <a:cubicBezTo>
                    <a:pt x="2163475" y="830419"/>
                    <a:pt x="2564891" y="1231301"/>
                    <a:pt x="2564891" y="1724288"/>
                  </a:cubicBezTo>
                  <a:cubicBezTo>
                    <a:pt x="2564891" y="2216752"/>
                    <a:pt x="2163475" y="2617629"/>
                    <a:pt x="1670347" y="2617629"/>
                  </a:cubicBezTo>
                  <a:cubicBezTo>
                    <a:pt x="1176696" y="2617629"/>
                    <a:pt x="775280" y="2216752"/>
                    <a:pt x="775280" y="1724288"/>
                  </a:cubicBezTo>
                  <a:cubicBezTo>
                    <a:pt x="775280" y="1231301"/>
                    <a:pt x="1176696" y="830419"/>
                    <a:pt x="1670347" y="830419"/>
                  </a:cubicBezTo>
                  <a:close/>
                  <a:moveTo>
                    <a:pt x="1670347" y="598661"/>
                  </a:moveTo>
                  <a:cubicBezTo>
                    <a:pt x="1048777" y="598661"/>
                    <a:pt x="543023" y="1103649"/>
                    <a:pt x="543023" y="1724288"/>
                  </a:cubicBezTo>
                  <a:cubicBezTo>
                    <a:pt x="543023" y="2344927"/>
                    <a:pt x="1048777" y="2849392"/>
                    <a:pt x="1670347" y="2849392"/>
                  </a:cubicBezTo>
                  <a:cubicBezTo>
                    <a:pt x="2291394" y="2849392"/>
                    <a:pt x="2797148" y="2344927"/>
                    <a:pt x="2797148" y="1724288"/>
                  </a:cubicBezTo>
                  <a:cubicBezTo>
                    <a:pt x="2797148" y="1103649"/>
                    <a:pt x="2291394" y="598661"/>
                    <a:pt x="1670347" y="598661"/>
                  </a:cubicBezTo>
                  <a:close/>
                  <a:moveTo>
                    <a:pt x="1383667" y="0"/>
                  </a:moveTo>
                  <a:lnTo>
                    <a:pt x="1956505" y="0"/>
                  </a:lnTo>
                  <a:cubicBezTo>
                    <a:pt x="2086476" y="0"/>
                    <a:pt x="2192343" y="105185"/>
                    <a:pt x="2192343" y="235487"/>
                  </a:cubicBezTo>
                  <a:lnTo>
                    <a:pt x="2192343" y="478302"/>
                  </a:lnTo>
                  <a:cubicBezTo>
                    <a:pt x="2298211" y="522782"/>
                    <a:pt x="2394641" y="583488"/>
                    <a:pt x="2484789" y="652038"/>
                  </a:cubicBezTo>
                  <a:lnTo>
                    <a:pt x="2699667" y="528013"/>
                  </a:lnTo>
                  <a:cubicBezTo>
                    <a:pt x="2736875" y="506557"/>
                    <a:pt x="2777757" y="496620"/>
                    <a:pt x="2817586" y="496620"/>
                  </a:cubicBezTo>
                  <a:cubicBezTo>
                    <a:pt x="2899343" y="496620"/>
                    <a:pt x="2978479" y="539002"/>
                    <a:pt x="3022504" y="614363"/>
                  </a:cubicBezTo>
                  <a:lnTo>
                    <a:pt x="3308662" y="1109408"/>
                  </a:lnTo>
                  <a:cubicBezTo>
                    <a:pt x="3340106" y="1163831"/>
                    <a:pt x="3348491" y="1228197"/>
                    <a:pt x="3332243" y="1288374"/>
                  </a:cubicBezTo>
                  <a:cubicBezTo>
                    <a:pt x="3315995" y="1348556"/>
                    <a:pt x="3276166" y="1399841"/>
                    <a:pt x="3222186" y="1431240"/>
                  </a:cubicBezTo>
                  <a:lnTo>
                    <a:pt x="3005733" y="1556306"/>
                  </a:lnTo>
                  <a:cubicBezTo>
                    <a:pt x="3013073" y="1611781"/>
                    <a:pt x="3023027" y="1666727"/>
                    <a:pt x="3023027" y="1724288"/>
                  </a:cubicBezTo>
                  <a:cubicBezTo>
                    <a:pt x="3023027" y="1781855"/>
                    <a:pt x="3013073" y="1836278"/>
                    <a:pt x="3005733" y="1891748"/>
                  </a:cubicBezTo>
                  <a:lnTo>
                    <a:pt x="3222186" y="2016814"/>
                  </a:lnTo>
                  <a:cubicBezTo>
                    <a:pt x="3334864" y="2081709"/>
                    <a:pt x="3373648" y="2225615"/>
                    <a:pt x="3308662" y="2338651"/>
                  </a:cubicBezTo>
                  <a:lnTo>
                    <a:pt x="3022504" y="2833696"/>
                  </a:lnTo>
                  <a:cubicBezTo>
                    <a:pt x="2991060" y="2888119"/>
                    <a:pt x="2939173" y="2927369"/>
                    <a:pt x="2878905" y="2943588"/>
                  </a:cubicBezTo>
                  <a:cubicBezTo>
                    <a:pt x="2858991" y="2948824"/>
                    <a:pt x="2838547" y="2951439"/>
                    <a:pt x="2818109" y="2951439"/>
                  </a:cubicBezTo>
                  <a:cubicBezTo>
                    <a:pt x="2776705" y="2951439"/>
                    <a:pt x="2735829" y="2940973"/>
                    <a:pt x="2699667" y="2920041"/>
                  </a:cubicBezTo>
                  <a:lnTo>
                    <a:pt x="2484789" y="2796015"/>
                  </a:lnTo>
                  <a:cubicBezTo>
                    <a:pt x="2394641" y="2864571"/>
                    <a:pt x="2298211" y="2925794"/>
                    <a:pt x="2192343" y="2970280"/>
                  </a:cubicBezTo>
                  <a:lnTo>
                    <a:pt x="2192343" y="3212566"/>
                  </a:lnTo>
                  <a:cubicBezTo>
                    <a:pt x="2192343" y="3342868"/>
                    <a:pt x="2086476" y="3448053"/>
                    <a:pt x="1956505" y="3448053"/>
                  </a:cubicBezTo>
                  <a:lnTo>
                    <a:pt x="1383667" y="3448053"/>
                  </a:lnTo>
                  <a:cubicBezTo>
                    <a:pt x="1253172" y="3448053"/>
                    <a:pt x="1147828" y="3342868"/>
                    <a:pt x="1147828" y="3212566"/>
                  </a:cubicBezTo>
                  <a:lnTo>
                    <a:pt x="1147828" y="2970280"/>
                  </a:lnTo>
                  <a:cubicBezTo>
                    <a:pt x="1041437" y="2925794"/>
                    <a:pt x="946054" y="2864571"/>
                    <a:pt x="854860" y="2796015"/>
                  </a:cubicBezTo>
                  <a:lnTo>
                    <a:pt x="639981" y="2920041"/>
                  </a:lnTo>
                  <a:cubicBezTo>
                    <a:pt x="603819" y="2940973"/>
                    <a:pt x="563466" y="2951439"/>
                    <a:pt x="522062" y="2951439"/>
                  </a:cubicBezTo>
                  <a:cubicBezTo>
                    <a:pt x="501624" y="2951439"/>
                    <a:pt x="481181" y="2948824"/>
                    <a:pt x="460743" y="2943588"/>
                  </a:cubicBezTo>
                  <a:cubicBezTo>
                    <a:pt x="400999" y="2927369"/>
                    <a:pt x="349111" y="2888119"/>
                    <a:pt x="318190" y="2833696"/>
                  </a:cubicBezTo>
                  <a:lnTo>
                    <a:pt x="31509" y="2338122"/>
                  </a:lnTo>
                  <a:cubicBezTo>
                    <a:pt x="-33477" y="2225615"/>
                    <a:pt x="5307" y="2081709"/>
                    <a:pt x="117985" y="2016291"/>
                  </a:cubicBezTo>
                  <a:lnTo>
                    <a:pt x="334438" y="1891748"/>
                  </a:lnTo>
                  <a:cubicBezTo>
                    <a:pt x="327098" y="1836278"/>
                    <a:pt x="317144" y="1781855"/>
                    <a:pt x="317144" y="1724288"/>
                  </a:cubicBezTo>
                  <a:cubicBezTo>
                    <a:pt x="317144" y="1666727"/>
                    <a:pt x="327098" y="1611781"/>
                    <a:pt x="334438" y="1556306"/>
                  </a:cubicBezTo>
                  <a:lnTo>
                    <a:pt x="117985" y="1431240"/>
                  </a:lnTo>
                  <a:cubicBezTo>
                    <a:pt x="5307" y="1366350"/>
                    <a:pt x="-33477" y="1222438"/>
                    <a:pt x="31509" y="1109408"/>
                  </a:cubicBezTo>
                  <a:lnTo>
                    <a:pt x="318190" y="614363"/>
                  </a:lnTo>
                  <a:cubicBezTo>
                    <a:pt x="349111" y="559934"/>
                    <a:pt x="400999" y="520690"/>
                    <a:pt x="460743" y="504465"/>
                  </a:cubicBezTo>
                  <a:cubicBezTo>
                    <a:pt x="481181" y="499235"/>
                    <a:pt x="501624" y="496620"/>
                    <a:pt x="522062" y="496620"/>
                  </a:cubicBezTo>
                  <a:cubicBezTo>
                    <a:pt x="562943" y="496620"/>
                    <a:pt x="603819" y="507080"/>
                    <a:pt x="639981" y="528013"/>
                  </a:cubicBezTo>
                  <a:lnTo>
                    <a:pt x="854860" y="652038"/>
                  </a:lnTo>
                  <a:cubicBezTo>
                    <a:pt x="946054" y="583488"/>
                    <a:pt x="1041961" y="522782"/>
                    <a:pt x="1147828" y="478302"/>
                  </a:cubicBezTo>
                  <a:lnTo>
                    <a:pt x="1147828" y="235487"/>
                  </a:lnTo>
                  <a:cubicBezTo>
                    <a:pt x="1147828" y="105185"/>
                    <a:pt x="1253172" y="0"/>
                    <a:pt x="1383667" y="0"/>
                  </a:cubicBezTo>
                  <a:close/>
                </a:path>
              </a:pathLst>
            </a:custGeom>
            <a:gradFill>
              <a:gsLst>
                <a:gs pos="0">
                  <a:srgbClr val="174EA3"/>
                </a:gs>
                <a:gs pos="100000">
                  <a:srgbClr val="0070C0"/>
                </a:gs>
              </a:gsLst>
              <a:lin ang="5400000" scaled="1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组合 30"/>
            <p:cNvGrpSpPr/>
            <p:nvPr/>
          </p:nvGrpSpPr>
          <p:grpSpPr>
            <a:xfrm>
              <a:off x="7320086" y="3212985"/>
              <a:ext cx="1008070" cy="1993158"/>
              <a:chOff x="7275253" y="2863258"/>
              <a:chExt cx="1341688" cy="2281148"/>
            </a:xfrm>
          </p:grpSpPr>
          <p:sp>
            <p:nvSpPr>
              <p:cNvPr id="12" name="Shape 6928"/>
              <p:cNvSpPr/>
              <p:nvPr/>
            </p:nvSpPr>
            <p:spPr>
              <a:xfrm flipH="1">
                <a:off x="7444080" y="2863824"/>
                <a:ext cx="1172861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  <p:sp>
            <p:nvSpPr>
              <p:cNvPr id="13" name="Shape 6929"/>
              <p:cNvSpPr/>
              <p:nvPr/>
            </p:nvSpPr>
            <p:spPr>
              <a:xfrm flipH="1">
                <a:off x="7275019" y="5145203"/>
                <a:ext cx="1341922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</p:grpSp>
      </p:grpSp>
      <p:sp>
        <p:nvSpPr>
          <p:cNvPr id="16" name="Freeform 870"/>
          <p:cNvSpPr>
            <a:spLocks noEditPoints="1"/>
          </p:cNvSpPr>
          <p:nvPr/>
        </p:nvSpPr>
        <p:spPr bwMode="auto">
          <a:xfrm>
            <a:off x="1967230" y="3126740"/>
            <a:ext cx="974090" cy="894080"/>
          </a:xfrm>
          <a:custGeom>
            <a:avLst/>
            <a:gdLst>
              <a:gd name="T0" fmla="*/ 196 w 290"/>
              <a:gd name="T1" fmla="*/ 9 h 266"/>
              <a:gd name="T2" fmla="*/ 251 w 290"/>
              <a:gd name="T3" fmla="*/ 22 h 266"/>
              <a:gd name="T4" fmla="*/ 266 w 290"/>
              <a:gd name="T5" fmla="*/ 6 h 266"/>
              <a:gd name="T6" fmla="*/ 273 w 290"/>
              <a:gd name="T7" fmla="*/ 86 h 266"/>
              <a:gd name="T8" fmla="*/ 214 w 290"/>
              <a:gd name="T9" fmla="*/ 130 h 266"/>
              <a:gd name="T10" fmla="*/ 214 w 290"/>
              <a:gd name="T11" fmla="*/ 142 h 266"/>
              <a:gd name="T12" fmla="*/ 169 w 290"/>
              <a:gd name="T13" fmla="*/ 170 h 266"/>
              <a:gd name="T14" fmla="*/ 98 w 290"/>
              <a:gd name="T15" fmla="*/ 249 h 266"/>
              <a:gd name="T16" fmla="*/ 62 w 290"/>
              <a:gd name="T17" fmla="*/ 261 h 266"/>
              <a:gd name="T18" fmla="*/ 14 w 290"/>
              <a:gd name="T19" fmla="*/ 166 h 266"/>
              <a:gd name="T20" fmla="*/ 61 w 290"/>
              <a:gd name="T21" fmla="*/ 130 h 266"/>
              <a:gd name="T22" fmla="*/ 106 w 290"/>
              <a:gd name="T23" fmla="*/ 93 h 266"/>
              <a:gd name="T24" fmla="*/ 151 w 290"/>
              <a:gd name="T25" fmla="*/ 61 h 266"/>
              <a:gd name="T26" fmla="*/ 196 w 290"/>
              <a:gd name="T27" fmla="*/ 9 h 266"/>
              <a:gd name="T28" fmla="*/ 204 w 290"/>
              <a:gd name="T29" fmla="*/ 17 h 266"/>
              <a:gd name="T30" fmla="*/ 165 w 290"/>
              <a:gd name="T31" fmla="*/ 65 h 266"/>
              <a:gd name="T32" fmla="*/ 196 w 290"/>
              <a:gd name="T33" fmla="*/ 83 h 266"/>
              <a:gd name="T34" fmla="*/ 242 w 290"/>
              <a:gd name="T35" fmla="*/ 31 h 266"/>
              <a:gd name="T36" fmla="*/ 204 w 290"/>
              <a:gd name="T37" fmla="*/ 17 h 266"/>
              <a:gd name="T38" fmla="*/ 202 w 290"/>
              <a:gd name="T39" fmla="*/ 92 h 266"/>
              <a:gd name="T40" fmla="*/ 212 w 290"/>
              <a:gd name="T41" fmla="*/ 116 h 266"/>
              <a:gd name="T42" fmla="*/ 265 w 290"/>
              <a:gd name="T43" fmla="*/ 77 h 266"/>
              <a:gd name="T44" fmla="*/ 265 w 290"/>
              <a:gd name="T45" fmla="*/ 25 h 266"/>
              <a:gd name="T46" fmla="*/ 202 w 290"/>
              <a:gd name="T47" fmla="*/ 92 h 266"/>
              <a:gd name="T48" fmla="*/ 124 w 290"/>
              <a:gd name="T49" fmla="*/ 102 h 266"/>
              <a:gd name="T50" fmla="*/ 54 w 290"/>
              <a:gd name="T51" fmla="*/ 148 h 266"/>
              <a:gd name="T52" fmla="*/ 81 w 290"/>
              <a:gd name="T53" fmla="*/ 194 h 266"/>
              <a:gd name="T54" fmla="*/ 94 w 290"/>
              <a:gd name="T55" fmla="*/ 190 h 266"/>
              <a:gd name="T56" fmla="*/ 83 w 290"/>
              <a:gd name="T57" fmla="*/ 162 h 266"/>
              <a:gd name="T58" fmla="*/ 159 w 290"/>
              <a:gd name="T59" fmla="*/ 110 h 266"/>
              <a:gd name="T60" fmla="*/ 124 w 290"/>
              <a:gd name="T61" fmla="*/ 102 h 266"/>
              <a:gd name="T62" fmla="*/ 98 w 290"/>
              <a:gd name="T63" fmla="*/ 166 h 266"/>
              <a:gd name="T64" fmla="*/ 108 w 290"/>
              <a:gd name="T65" fmla="*/ 218 h 266"/>
              <a:gd name="T66" fmla="*/ 178 w 290"/>
              <a:gd name="T67" fmla="*/ 145 h 266"/>
              <a:gd name="T68" fmla="*/ 168 w 290"/>
              <a:gd name="T69" fmla="*/ 121 h 266"/>
              <a:gd name="T70" fmla="*/ 98 w 290"/>
              <a:gd name="T71" fmla="*/ 166 h 266"/>
              <a:gd name="T72" fmla="*/ 25 w 290"/>
              <a:gd name="T73" fmla="*/ 171 h 266"/>
              <a:gd name="T74" fmla="*/ 61 w 290"/>
              <a:gd name="T75" fmla="*/ 249 h 266"/>
              <a:gd name="T76" fmla="*/ 87 w 290"/>
              <a:gd name="T77" fmla="*/ 244 h 266"/>
              <a:gd name="T78" fmla="*/ 96 w 290"/>
              <a:gd name="T79" fmla="*/ 199 h 266"/>
              <a:gd name="T80" fmla="*/ 67 w 290"/>
              <a:gd name="T81" fmla="*/ 225 h 266"/>
              <a:gd name="T82" fmla="*/ 34 w 290"/>
              <a:gd name="T83" fmla="*/ 197 h 266"/>
              <a:gd name="T84" fmla="*/ 64 w 290"/>
              <a:gd name="T85" fmla="*/ 175 h 266"/>
              <a:gd name="T86" fmla="*/ 39 w 290"/>
              <a:gd name="T87" fmla="*/ 156 h 266"/>
              <a:gd name="T88" fmla="*/ 25 w 290"/>
              <a:gd name="T89" fmla="*/ 171 h 266"/>
              <a:gd name="T90" fmla="*/ 46 w 290"/>
              <a:gd name="T91" fmla="*/ 202 h 266"/>
              <a:gd name="T92" fmla="*/ 64 w 290"/>
              <a:gd name="T93" fmla="*/ 218 h 266"/>
              <a:gd name="T94" fmla="*/ 68 w 290"/>
              <a:gd name="T95" fmla="*/ 187 h 266"/>
              <a:gd name="T96" fmla="*/ 46 w 290"/>
              <a:gd name="T97" fmla="*/ 202 h 266"/>
              <a:gd name="T98" fmla="*/ 188 w 290"/>
              <a:gd name="T99" fmla="*/ 175 h 266"/>
              <a:gd name="T100" fmla="*/ 208 w 290"/>
              <a:gd name="T101" fmla="*/ 263 h 266"/>
              <a:gd name="T102" fmla="*/ 213 w 290"/>
              <a:gd name="T103" fmla="*/ 241 h 266"/>
              <a:gd name="T104" fmla="*/ 232 w 290"/>
              <a:gd name="T105" fmla="*/ 246 h 266"/>
              <a:gd name="T106" fmla="*/ 206 w 290"/>
              <a:gd name="T107" fmla="*/ 180 h 266"/>
              <a:gd name="T108" fmla="*/ 218 w 290"/>
              <a:gd name="T109" fmla="*/ 148 h 266"/>
              <a:gd name="T110" fmla="*/ 188 w 290"/>
              <a:gd name="T111" fmla="*/ 175 h 266"/>
              <a:gd name="T112" fmla="*/ 210 w 290"/>
              <a:gd name="T113" fmla="*/ 184 h 266"/>
              <a:gd name="T114" fmla="*/ 270 w 290"/>
              <a:gd name="T115" fmla="*/ 228 h 266"/>
              <a:gd name="T116" fmla="*/ 260 w 290"/>
              <a:gd name="T117" fmla="*/ 206 h 266"/>
              <a:gd name="T118" fmla="*/ 280 w 290"/>
              <a:gd name="T119" fmla="*/ 200 h 266"/>
              <a:gd name="T120" fmla="*/ 224 w 290"/>
              <a:gd name="T121" fmla="*/ 167 h 266"/>
              <a:gd name="T122" fmla="*/ 210 w 290"/>
              <a:gd name="T123" fmla="*/ 18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90" h="266">
                <a:moveTo>
                  <a:pt x="196" y="9"/>
                </a:moveTo>
                <a:cubicBezTo>
                  <a:pt x="215" y="0"/>
                  <a:pt x="236" y="10"/>
                  <a:pt x="251" y="22"/>
                </a:cubicBezTo>
                <a:cubicBezTo>
                  <a:pt x="256" y="17"/>
                  <a:pt x="261" y="12"/>
                  <a:pt x="266" y="6"/>
                </a:cubicBezTo>
                <a:cubicBezTo>
                  <a:pt x="283" y="28"/>
                  <a:pt x="290" y="63"/>
                  <a:pt x="273" y="86"/>
                </a:cubicBezTo>
                <a:cubicBezTo>
                  <a:pt x="254" y="102"/>
                  <a:pt x="233" y="115"/>
                  <a:pt x="214" y="130"/>
                </a:cubicBezTo>
                <a:cubicBezTo>
                  <a:pt x="214" y="133"/>
                  <a:pt x="214" y="139"/>
                  <a:pt x="214" y="142"/>
                </a:cubicBezTo>
                <a:cubicBezTo>
                  <a:pt x="200" y="153"/>
                  <a:pt x="189" y="172"/>
                  <a:pt x="169" y="170"/>
                </a:cubicBezTo>
                <a:cubicBezTo>
                  <a:pt x="143" y="194"/>
                  <a:pt x="120" y="222"/>
                  <a:pt x="98" y="249"/>
                </a:cubicBezTo>
                <a:cubicBezTo>
                  <a:pt x="90" y="260"/>
                  <a:pt x="75" y="266"/>
                  <a:pt x="62" y="261"/>
                </a:cubicBezTo>
                <a:cubicBezTo>
                  <a:pt x="23" y="250"/>
                  <a:pt x="0" y="204"/>
                  <a:pt x="14" y="166"/>
                </a:cubicBezTo>
                <a:cubicBezTo>
                  <a:pt x="22" y="146"/>
                  <a:pt x="45" y="142"/>
                  <a:pt x="61" y="130"/>
                </a:cubicBezTo>
                <a:cubicBezTo>
                  <a:pt x="77" y="119"/>
                  <a:pt x="98" y="112"/>
                  <a:pt x="106" y="93"/>
                </a:cubicBezTo>
                <a:cubicBezTo>
                  <a:pt x="118" y="78"/>
                  <a:pt x="133" y="65"/>
                  <a:pt x="151" y="61"/>
                </a:cubicBezTo>
                <a:cubicBezTo>
                  <a:pt x="169" y="46"/>
                  <a:pt x="181" y="26"/>
                  <a:pt x="196" y="9"/>
                </a:cubicBezTo>
                <a:close/>
                <a:moveTo>
                  <a:pt x="204" y="17"/>
                </a:moveTo>
                <a:cubicBezTo>
                  <a:pt x="192" y="33"/>
                  <a:pt x="179" y="50"/>
                  <a:pt x="165" y="65"/>
                </a:cubicBezTo>
                <a:cubicBezTo>
                  <a:pt x="176" y="70"/>
                  <a:pt x="186" y="76"/>
                  <a:pt x="196" y="83"/>
                </a:cubicBezTo>
                <a:cubicBezTo>
                  <a:pt x="211" y="66"/>
                  <a:pt x="231" y="51"/>
                  <a:pt x="242" y="31"/>
                </a:cubicBezTo>
                <a:cubicBezTo>
                  <a:pt x="232" y="20"/>
                  <a:pt x="218" y="17"/>
                  <a:pt x="204" y="17"/>
                </a:cubicBezTo>
                <a:close/>
                <a:moveTo>
                  <a:pt x="202" y="92"/>
                </a:moveTo>
                <a:cubicBezTo>
                  <a:pt x="205" y="100"/>
                  <a:pt x="209" y="108"/>
                  <a:pt x="212" y="116"/>
                </a:cubicBezTo>
                <a:cubicBezTo>
                  <a:pt x="229" y="103"/>
                  <a:pt x="249" y="92"/>
                  <a:pt x="265" y="77"/>
                </a:cubicBezTo>
                <a:cubicBezTo>
                  <a:pt x="275" y="62"/>
                  <a:pt x="270" y="41"/>
                  <a:pt x="265" y="25"/>
                </a:cubicBezTo>
                <a:cubicBezTo>
                  <a:pt x="245" y="48"/>
                  <a:pt x="224" y="71"/>
                  <a:pt x="202" y="92"/>
                </a:cubicBezTo>
                <a:close/>
                <a:moveTo>
                  <a:pt x="124" y="102"/>
                </a:moveTo>
                <a:cubicBezTo>
                  <a:pt x="102" y="118"/>
                  <a:pt x="78" y="134"/>
                  <a:pt x="54" y="148"/>
                </a:cubicBezTo>
                <a:cubicBezTo>
                  <a:pt x="68" y="159"/>
                  <a:pt x="77" y="176"/>
                  <a:pt x="81" y="194"/>
                </a:cubicBezTo>
                <a:cubicBezTo>
                  <a:pt x="85" y="192"/>
                  <a:pt x="90" y="191"/>
                  <a:pt x="94" y="190"/>
                </a:cubicBezTo>
                <a:cubicBezTo>
                  <a:pt x="90" y="181"/>
                  <a:pt x="86" y="172"/>
                  <a:pt x="83" y="162"/>
                </a:cubicBezTo>
                <a:cubicBezTo>
                  <a:pt x="108" y="145"/>
                  <a:pt x="138" y="133"/>
                  <a:pt x="159" y="110"/>
                </a:cubicBezTo>
                <a:cubicBezTo>
                  <a:pt x="149" y="105"/>
                  <a:pt x="135" y="92"/>
                  <a:pt x="124" y="102"/>
                </a:cubicBezTo>
                <a:close/>
                <a:moveTo>
                  <a:pt x="98" y="166"/>
                </a:moveTo>
                <a:cubicBezTo>
                  <a:pt x="105" y="183"/>
                  <a:pt x="109" y="200"/>
                  <a:pt x="108" y="218"/>
                </a:cubicBezTo>
                <a:cubicBezTo>
                  <a:pt x="129" y="192"/>
                  <a:pt x="154" y="168"/>
                  <a:pt x="178" y="145"/>
                </a:cubicBezTo>
                <a:cubicBezTo>
                  <a:pt x="174" y="137"/>
                  <a:pt x="171" y="129"/>
                  <a:pt x="168" y="121"/>
                </a:cubicBezTo>
                <a:cubicBezTo>
                  <a:pt x="145" y="137"/>
                  <a:pt x="123" y="154"/>
                  <a:pt x="98" y="166"/>
                </a:cubicBezTo>
                <a:close/>
                <a:moveTo>
                  <a:pt x="25" y="171"/>
                </a:moveTo>
                <a:cubicBezTo>
                  <a:pt x="15" y="201"/>
                  <a:pt x="31" y="238"/>
                  <a:pt x="61" y="249"/>
                </a:cubicBezTo>
                <a:cubicBezTo>
                  <a:pt x="70" y="252"/>
                  <a:pt x="81" y="252"/>
                  <a:pt x="87" y="244"/>
                </a:cubicBezTo>
                <a:cubicBezTo>
                  <a:pt x="97" y="231"/>
                  <a:pt x="97" y="214"/>
                  <a:pt x="96" y="199"/>
                </a:cubicBezTo>
                <a:cubicBezTo>
                  <a:pt x="86" y="208"/>
                  <a:pt x="77" y="217"/>
                  <a:pt x="67" y="225"/>
                </a:cubicBezTo>
                <a:cubicBezTo>
                  <a:pt x="49" y="231"/>
                  <a:pt x="37" y="212"/>
                  <a:pt x="34" y="197"/>
                </a:cubicBezTo>
                <a:cubicBezTo>
                  <a:pt x="44" y="190"/>
                  <a:pt x="54" y="183"/>
                  <a:pt x="64" y="175"/>
                </a:cubicBezTo>
                <a:cubicBezTo>
                  <a:pt x="57" y="168"/>
                  <a:pt x="50" y="158"/>
                  <a:pt x="39" y="156"/>
                </a:cubicBezTo>
                <a:cubicBezTo>
                  <a:pt x="32" y="159"/>
                  <a:pt x="26" y="164"/>
                  <a:pt x="25" y="171"/>
                </a:cubicBezTo>
                <a:close/>
                <a:moveTo>
                  <a:pt x="46" y="202"/>
                </a:moveTo>
                <a:cubicBezTo>
                  <a:pt x="51" y="208"/>
                  <a:pt x="57" y="213"/>
                  <a:pt x="64" y="218"/>
                </a:cubicBezTo>
                <a:cubicBezTo>
                  <a:pt x="68" y="208"/>
                  <a:pt x="70" y="198"/>
                  <a:pt x="68" y="187"/>
                </a:cubicBezTo>
                <a:cubicBezTo>
                  <a:pt x="61" y="192"/>
                  <a:pt x="53" y="197"/>
                  <a:pt x="46" y="202"/>
                </a:cubicBezTo>
                <a:close/>
                <a:moveTo>
                  <a:pt x="188" y="175"/>
                </a:moveTo>
                <a:cubicBezTo>
                  <a:pt x="183" y="206"/>
                  <a:pt x="191" y="237"/>
                  <a:pt x="208" y="263"/>
                </a:cubicBezTo>
                <a:cubicBezTo>
                  <a:pt x="209" y="256"/>
                  <a:pt x="211" y="248"/>
                  <a:pt x="213" y="241"/>
                </a:cubicBezTo>
                <a:cubicBezTo>
                  <a:pt x="219" y="243"/>
                  <a:pt x="225" y="245"/>
                  <a:pt x="232" y="246"/>
                </a:cubicBezTo>
                <a:cubicBezTo>
                  <a:pt x="218" y="227"/>
                  <a:pt x="207" y="205"/>
                  <a:pt x="206" y="180"/>
                </a:cubicBezTo>
                <a:cubicBezTo>
                  <a:pt x="215" y="171"/>
                  <a:pt x="219" y="160"/>
                  <a:pt x="218" y="148"/>
                </a:cubicBezTo>
                <a:cubicBezTo>
                  <a:pt x="207" y="156"/>
                  <a:pt x="197" y="164"/>
                  <a:pt x="188" y="175"/>
                </a:cubicBezTo>
                <a:close/>
                <a:moveTo>
                  <a:pt x="210" y="184"/>
                </a:moveTo>
                <a:cubicBezTo>
                  <a:pt x="226" y="204"/>
                  <a:pt x="247" y="218"/>
                  <a:pt x="270" y="228"/>
                </a:cubicBezTo>
                <a:cubicBezTo>
                  <a:pt x="267" y="221"/>
                  <a:pt x="264" y="214"/>
                  <a:pt x="260" y="206"/>
                </a:cubicBezTo>
                <a:cubicBezTo>
                  <a:pt x="267" y="204"/>
                  <a:pt x="274" y="202"/>
                  <a:pt x="280" y="200"/>
                </a:cubicBezTo>
                <a:cubicBezTo>
                  <a:pt x="259" y="193"/>
                  <a:pt x="239" y="183"/>
                  <a:pt x="224" y="167"/>
                </a:cubicBezTo>
                <a:cubicBezTo>
                  <a:pt x="220" y="173"/>
                  <a:pt x="215" y="179"/>
                  <a:pt x="210" y="184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792000"/>
            <a:ext cx="5611240" cy="659766"/>
            <a:chOff x="-9" y="1110"/>
            <a:chExt cx="8837" cy="1039"/>
          </a:xfrm>
        </p:grpSpPr>
        <p:grpSp>
          <p:nvGrpSpPr>
            <p:cNvPr id="22" name="组合 21"/>
            <p:cNvGrpSpPr/>
            <p:nvPr/>
          </p:nvGrpSpPr>
          <p:grpSpPr>
            <a:xfrm>
              <a:off x="2004" y="1110"/>
              <a:ext cx="6824" cy="1039"/>
              <a:chOff x="574557" y="613893"/>
              <a:chExt cx="4332551" cy="659964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574557" y="613893"/>
                <a:ext cx="4332551" cy="583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en-US"/>
                </a:defPPr>
                <a:lvl1pPr algn="ctr">
                  <a:defRPr sz="320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1"/>
                    </a:gradFill>
                  </a:defRPr>
                </a:lvl1pPr>
              </a:lstStyle>
              <a:p>
                <a:pPr algn="l"/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任务目标和</a:t>
                </a:r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重难点</a:t>
                </a:r>
                <a:endParaRPr lang="zh-CN" altLang="en-US" b="1" dirty="0" smtClean="0">
                  <a:solidFill>
                    <a:srgbClr val="0064D2"/>
                  </a:solidFill>
                  <a:latin typeface="+mn-ea"/>
                  <a:cs typeface="+mn-ea"/>
                  <a:sym typeface="+mn-lt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873861" y="1273857"/>
                <a:ext cx="701130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>
              <a:off x="-9" y="1110"/>
              <a:ext cx="1429" cy="91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 smtClean="0">
                  <a:solidFill>
                    <a:srgbClr val="3F396C"/>
                  </a:solidFill>
                  <a:latin typeface="思源宋体" panose="02020700000000000000" charset="-122"/>
                  <a:ea typeface="思源宋体" panose="02020700000000000000" charset="-122"/>
                </a:rPr>
                <a:t>02</a:t>
              </a:r>
              <a:endParaRPr lang="en-US" altLang="zh-CN" sz="3200" dirty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49495" y="1638000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任务目标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48225" y="3963600"/>
            <a:ext cx="208597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任务重难点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50400" y="250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能围绕确定性、逻辑性、效率三个维度分析一个提示词是否优质；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0400" y="203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从系统设计视角理解提示词价值，建立行为设计意识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0400" y="2970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能使用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RAGFlow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工作流开展提示词测试、记录和迭代优化；</a:t>
            </a: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50400" y="3438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能根据场景构建提示词，约束智能体输出符合需求的内容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48495" y="437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重点：理解提示词如何影响智能体的决策过程与输出稳定性；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50400" y="484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难点：从文字生成过渡到提示词塑造模型行为的系统化认知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提示词工程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98720" y="3074670"/>
            <a:ext cx="2194560" cy="708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{{</a:t>
            </a:r>
            <a:r>
              <a:rPr lang="zh-CN" altLang="en-US" sz="3600"/>
              <a:t>定位页</a:t>
            </a:r>
            <a:r>
              <a:rPr lang="en-US" altLang="zh-CN" sz="3600"/>
              <a:t>}}</a:t>
            </a:r>
            <a:endParaRPr lang="en-US" altLang="zh-CN"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提示词工程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98720" y="3074670"/>
            <a:ext cx="2194560" cy="708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{{</a:t>
            </a:r>
            <a:r>
              <a:rPr lang="zh-CN" altLang="en-US" sz="3600"/>
              <a:t>定位页</a:t>
            </a:r>
            <a:r>
              <a:rPr lang="en-US" altLang="zh-CN" sz="3600"/>
              <a:t>}}</a:t>
            </a:r>
            <a:endParaRPr lang="en-US" altLang="zh-CN"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任务小结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提示词工程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1025" y="1375410"/>
            <a:ext cx="8822055" cy="175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>
                <a:latin typeface="Arial" panose="020B0604020202020204" pitchFamily="34" charset="0"/>
                <a:cs typeface="Arial" panose="020B0604020202020204" pitchFamily="34" charset="0"/>
              </a:rPr>
              <a:t>提示词并不是模型交互中的附属品，而是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行为设计的核心入口。它决定了模型如何理解任务、如何分配注意力、如何组织推理、如何控制输出。提示词工程的目标不是把话说得更华丽，而是把要求说得更明确、更稳定、更高效。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23770" y="3274695"/>
            <a:ext cx="7743825" cy="3267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200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小结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76370" y="4642485"/>
            <a:ext cx="423926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{{image:summary_image}}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</a:t>
            </a:r>
            <a:r>
              <a:rPr lang="zh-CN" altLang="en-US" b="1" dirty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www.koppt.cn"/>
          <p:cNvSpPr/>
          <p:nvPr/>
        </p:nvSpPr>
        <p:spPr>
          <a:xfrm>
            <a:off x="1321200" y="2391777"/>
            <a:ext cx="1693017" cy="426365"/>
          </a:xfrm>
          <a:prstGeom prst="roundRect">
            <a:avLst>
              <a:gd name="adj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重点内容总结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9" name="www.koppt.cn"/>
          <p:cNvSpPr/>
          <p:nvPr/>
        </p:nvSpPr>
        <p:spPr>
          <a:xfrm>
            <a:off x="6665277" y="2391776"/>
            <a:ext cx="1806257" cy="42636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难点内容总结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9670" y="3154045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提示词是智能体的行为说明书；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511925" y="3155315"/>
            <a:ext cx="5040000" cy="5397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从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LLM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到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Agent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的决策逻辑认知；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69670" y="369360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优质提示词兼顾确定性、逻辑性、效率；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9670" y="423487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结构化提示词与版本管理确保可维护性。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11925" y="369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提示词如何塑造模型行为而非简单提问；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11925" y="423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从概率生成到可控输出的系统化设计。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任务拓展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提示词工程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拓展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06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2270" y="1375410"/>
            <a:ext cx="7481570" cy="23094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为任务实施中的系统提示词添加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few-shot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提示，判断一下对回复结果有无影响，并总结原因。如果要为一个企业客服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写第一版系统提示词，你认为最不能缺少的三项约束是什么？尝试构架一个这样的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，对比其他同学的回复结果，看看谁的想法更好。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: 圆角 4"/>
          <p:cNvSpPr/>
          <p:nvPr>
            <p:custDataLst>
              <p:tags r:id="rId2"/>
            </p:custDataLst>
          </p:nvPr>
        </p:nvSpPr>
        <p:spPr>
          <a:xfrm rot="20700000">
            <a:off x="2093869" y="4066512"/>
            <a:ext cx="480695" cy="2552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rgbClr val="00A5CC">
              <a:shade val="50000"/>
            </a:srgbClr>
          </a:lnRef>
          <a:fillRef idx="1">
            <a:srgbClr val="00A5CC"/>
          </a:fillRef>
          <a:effectRef idx="0">
            <a:srgbClr val="00A5CC"/>
          </a:effectRef>
          <a:fontRef idx="minor">
            <a:srgbClr val="FFFFFF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3348000" y="3924935"/>
            <a:ext cx="5789295" cy="2376170"/>
          </a:xfrm>
          <a:prstGeom prst="rect">
            <a:avLst/>
          </a:prstGeom>
          <a:noFill/>
        </p:spPr>
        <p:txBody>
          <a:bodyPr wrap="square" lIns="91440" tIns="45720" rIns="91440" bIns="45720" rtlCol="0"/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通过添加示例让模型模仿输出格式，提升一致性；最不能缺少的三项约束：明确角色与业务范围、定义处理流程步骤、设置拒答与输出格式规则。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9290" y="4500880"/>
            <a:ext cx="2085975" cy="1280160"/>
            <a:chOff x="1467" y="5006"/>
            <a:chExt cx="3285" cy="2016"/>
          </a:xfrm>
        </p:grpSpPr>
        <p:sp>
          <p:nvSpPr>
            <p:cNvPr id="8" name="任意多边形 216"/>
            <p:cNvSpPr/>
            <p:nvPr>
              <p:custDataLst>
                <p:tags r:id="rId4"/>
              </p:custDataLst>
            </p:nvPr>
          </p:nvSpPr>
          <p:spPr>
            <a:xfrm>
              <a:off x="1467" y="5006"/>
              <a:ext cx="2487" cy="2017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任意多边形 30"/>
            <p:cNvSpPr/>
            <p:nvPr>
              <p:custDataLst>
                <p:tags r:id="rId6"/>
              </p:custDataLst>
            </p:nvPr>
          </p:nvSpPr>
          <p:spPr>
            <a:xfrm>
              <a:off x="1615" y="5125"/>
              <a:ext cx="2193" cy="1779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: 圆角 27"/>
            <p:cNvSpPr/>
            <p:nvPr>
              <p:custDataLst>
                <p:tags r:id="rId7"/>
              </p:custDataLst>
            </p:nvPr>
          </p:nvSpPr>
          <p:spPr>
            <a:xfrm rot="20817892">
              <a:off x="3767" y="5140"/>
              <a:ext cx="793" cy="371"/>
            </a:xfrm>
            <a:prstGeom prst="roundRect">
              <a:avLst>
                <a:gd name="adj" fmla="val 50000"/>
              </a:avLst>
            </a:prstGeom>
            <a:solidFill>
              <a:srgbClr val="1E74AD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矩形: 圆角 28"/>
            <p:cNvSpPr/>
            <p:nvPr>
              <p:custDataLst>
                <p:tags r:id="rId8"/>
              </p:custDataLst>
            </p:nvPr>
          </p:nvSpPr>
          <p:spPr>
            <a:xfrm>
              <a:off x="3954" y="6217"/>
              <a:ext cx="799" cy="432"/>
            </a:xfrm>
            <a:prstGeom prst="roundRect">
              <a:avLst>
                <a:gd name="adj" fmla="val 50000"/>
              </a:avLst>
            </a:prstGeom>
            <a:solidFill>
              <a:srgbClr val="0DBBAF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242" y="5531"/>
              <a:ext cx="1244" cy="9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解题</a:t>
              </a:r>
              <a:b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</a:br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思路</a:t>
              </a:r>
              <a:endParaRPr lang="zh-CN" altLang="en-US" sz="1600" b="1" spc="3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264015" y="3105150"/>
            <a:ext cx="2187575" cy="3347085"/>
            <a:chOff x="17395952" y="4962815"/>
            <a:chExt cx="1235881" cy="212873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5952" y="4962815"/>
              <a:ext cx="1235881" cy="2128737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7713801" y="5281459"/>
              <a:ext cx="600541" cy="37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提示</a:t>
              </a:r>
              <a:endParaRPr lang="zh-CN" altLang="en-US" sz="3200" dirty="0"/>
            </a:p>
          </p:txBody>
        </p:sp>
      </p:grp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2802890" y="2288540"/>
            <a:ext cx="7174865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zh-CN" sz="4400" b="1" dirty="0">
                <a:latin typeface="+mj-ea"/>
                <a:ea typeface="+mj-ea"/>
                <a:cs typeface="+mj-ea"/>
                <a:sym typeface="+mn-ea"/>
              </a:rPr>
              <a:t>谢谢大家学习</a:t>
            </a:r>
            <a:endParaRPr lang="zh-CN" altLang="zh-CN" sz="4400" b="1" dirty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676" y="4489933"/>
            <a:ext cx="6096000" cy="113505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ctr" latinLnBrk="1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2F5496"/>
                </a:solidFill>
                <a:latin typeface="+mn-ea"/>
              </a:rPr>
              <a:t>The wise lead The willing follow</a:t>
            </a:r>
            <a:endParaRPr lang="zh-CN" altLang="zh-CN" sz="2400" b="1" kern="100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2F5496"/>
                </a:solidFill>
                <a:latin typeface="+mn-ea"/>
                <a:cs typeface="Times New Roman" panose="02020603050405020304" charset="0"/>
              </a:rPr>
              <a:t>让学习者与优秀者同行</a:t>
            </a:r>
            <a:endParaRPr lang="zh-CN" altLang="en-US" sz="2400" b="1" dirty="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2.xml><?xml version="1.0" encoding="utf-8"?>
<p:tagLst xmlns:p="http://schemas.openxmlformats.org/presentationml/2006/main">
  <p:tag name="KSO_WM_FULL_TEXT_BEAUTIFY_COPY_ID" val="35"/>
</p:tagLst>
</file>

<file path=ppt/tags/tag133.xml><?xml version="1.0" encoding="utf-8"?>
<p:tagLst xmlns:p="http://schemas.openxmlformats.org/presentationml/2006/main">
  <p:tag name="KSO_WM_FULL_TEXT_BEAUTIFY_COPY_ID" val="5"/>
</p:tagLst>
</file>

<file path=ppt/tags/tag134.xml><?xml version="1.0" encoding="utf-8"?>
<p:tagLst xmlns:p="http://schemas.openxmlformats.org/presentationml/2006/main">
  <p:tag name="KSO_WM_FULL_TEXT_BEAUTIFY_COPY_ID" val="10"/>
</p:tagLst>
</file>

<file path=ppt/tags/tag135.xml><?xml version="1.0" encoding="utf-8"?>
<p:tagLst xmlns:p="http://schemas.openxmlformats.org/presentationml/2006/main">
  <p:tag name="KSO_WM_FULL_TEXT_BEAUTIFY_COPY_ID" val="150995359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ISLIDE.PICTURE" val="#237962;"/>
  <p:tag name="ISLIDE.VECTOR" val="#431601;"/>
</p:tagLst>
</file>

<file path=ppt/tags/tag13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60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6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1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287.xml><?xml version="1.0" encoding="utf-8"?>
<p:tagLst xmlns:p="http://schemas.openxmlformats.org/presentationml/2006/main">
  <p:tag name="KSO_WM_UNIT_PRESET_TEXT" val="单击此处添加文本具体内容，简明扼要地阐述你的观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f*1_2_1_1"/>
  <p:tag name="KSO_WM_TEMPLATE_CATEGORY" val="diagram"/>
  <p:tag name="KSO_WM_TEMPLATE_INDEX" val="20169686"/>
  <p:tag name="KSO_WM_UNIT_LAYERLEVEL" val="1_1_1_1"/>
  <p:tag name="KSO_WM_TAG_VERSION" val="1.0"/>
  <p:tag name="KSO_WM_UNIT_TEXT_FILL_FORE_SCHEMECOLOR_INDEX" val="13"/>
  <p:tag name="KSO_WM_UNIT_TEXT_FILL_TYPE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1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2"/>
  <p:tag name="KSO_WM_UNIT_TEXT_FILL_TYPE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2"/>
  <p:tag name="KSO_WM_TEMPLATE_CATEGORY" val="diagram"/>
  <p:tag name="KSO_WM_TEMPLATE_INDEX" val="20169686"/>
  <p:tag name="KSO_WM_UNIT_LAYERLEVEL" val="1_1_1"/>
  <p:tag name="KSO_WM_TAG_VERSION" val="1.0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2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3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3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13"/>
  <p:tag name="KSO_WM_UNIT_TEXT_FILL_TYPE" val="1"/>
</p:tagLst>
</file>

<file path=ppt/tags/tag293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94.xml><?xml version="1.0" encoding="utf-8"?>
<p:tagLst xmlns:p="http://schemas.openxmlformats.org/presentationml/2006/main">
  <p:tag name="KSO_WM_FULL_TEXT_BEAUTIFY_COPY_ID" val="35"/>
</p:tagLst>
</file>

<file path=ppt/tags/tag295.xml><?xml version="1.0" encoding="utf-8"?>
<p:tagLst xmlns:p="http://schemas.openxmlformats.org/presentationml/2006/main">
  <p:tag name="KSO_WM_FULL_TEXT_BEAUTIFY_COPY_ID" val="150995359"/>
</p:tagLst>
</file>

<file path=ppt/tags/tag296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bIns="36195" rtlCol="0" anchor="ctr" anchorCtr="1">
        <a:spAutoFit/>
        <a:scene3d>
          <a:camera prst="orthographicFront"/>
          <a:lightRig rig="threePt" dir="t"/>
        </a:scene3d>
        <a:sp3d contourW="12700"/>
      </a:bodyPr>
      <a:lstStyle>
        <a:defPPr algn="ctr">
          <a:buClrTx/>
          <a:buSzTx/>
          <a:buFontTx/>
          <a:defRPr lang="zh-CN" altLang="en-US" sz="3200" b="1" dirty="0" smtClean="0">
            <a:latin typeface="+mj-ea"/>
            <a:ea typeface="+mj-ea"/>
            <a:cs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1496</Words>
  <Application>WPS 演示</Application>
  <PresentationFormat>宽屏</PresentationFormat>
  <Paragraphs>271</Paragraphs>
  <Slides>18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Wingdings</vt:lpstr>
      <vt:lpstr>Kaiti SC Bold</vt:lpstr>
      <vt:lpstr>Times New Roman</vt:lpstr>
      <vt:lpstr>Segoe UI</vt:lpstr>
      <vt:lpstr>Arial</vt:lpstr>
      <vt:lpstr>思源宋体</vt:lpstr>
      <vt:lpstr>Helvetica</vt:lpstr>
      <vt:lpstr>Kaiti SC Bold</vt:lpstr>
      <vt:lpstr>JetBrainsMono NF</vt:lpstr>
      <vt:lpstr>1_自定义设计方案</vt:lpstr>
      <vt:lpstr>自定义设计方案</vt:lpstr>
      <vt:lpstr>1_Office 主题​​</vt:lpstr>
      <vt:lpstr>cover</vt:lpstr>
      <vt:lpstr>introduction</vt:lpstr>
      <vt:lpstr>thinking</vt:lpstr>
      <vt:lpstr>start</vt:lpstr>
      <vt:lpstr>catalog_one</vt:lpstr>
      <vt:lpstr>description</vt:lpstr>
      <vt:lpstr>catalog_two</vt:lpstr>
      <vt:lpstr>target</vt:lpstr>
      <vt:lpstr>catalog_three</vt:lpstr>
      <vt:lpstr>knowledge_reserve</vt:lpstr>
      <vt:lpstr>catalog_four</vt:lpstr>
      <vt:lpstr>task_implementation</vt:lpstr>
      <vt:lpstr>catalog_five</vt:lpstr>
      <vt:lpstr>summary</vt:lpstr>
      <vt:lpstr>key_difficulties_summary</vt:lpstr>
      <vt:lpstr>catalog_six</vt:lpstr>
      <vt:lpstr>expansion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1176</cp:revision>
  <dcterms:created xsi:type="dcterms:W3CDTF">2019-06-19T02:08:00Z</dcterms:created>
  <dcterms:modified xsi:type="dcterms:W3CDTF">2026-05-23T11:51:12Z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1C68FE03B46E417E9E90957A2D68133F_13</vt:lpwstr>
  </property>
</Properties>
</file>