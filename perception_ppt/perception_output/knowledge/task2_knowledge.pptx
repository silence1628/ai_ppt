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</p:sldMasterIdLst>
  <p:notesMasterIdLst>
    <p:notesMasterId r:id="rId6"/>
  </p:notesMasterIdLst>
  <p:handoutMasterIdLst>
    <p:handoutMasterId r:id="rId19"/>
  </p:handoutMasterIdLst>
  <p:sldIdLst>
    <p:sldId id="2880" r:id="rId4"/>
    <p:sldId id="2893" r:id="rId5"/>
    <p:sldId id="2892" r:id="rId7"/>
    <p:sldId id="2891" r:id="rId8"/>
    <p:sldId id="2890" r:id="rId9"/>
    <p:sldId id="2889" r:id="rId10"/>
    <p:sldId id="2888" r:id="rId11"/>
    <p:sldId id="2887" r:id="rId12"/>
    <p:sldId id="2886" r:id="rId13"/>
    <p:sldId id="2885" r:id="rId14"/>
    <p:sldId id="2884" r:id="rId15"/>
    <p:sldId id="2883" r:id="rId16"/>
    <p:sldId id="2882" r:id="rId17"/>
    <p:sldId id="2881" r:id="rId18"/>
  </p:sldIdLst>
  <p:sldSz cx="12192000" cy="6858000"/>
  <p:notesSz cx="6858000" cy="9144000"/>
  <p:custDataLst>
    <p:tags r:id="rId2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98" userDrawn="1">
          <p15:clr>
            <a:srgbClr val="A4A3A4"/>
          </p15:clr>
        </p15:guide>
        <p15:guide id="2" pos="365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98"/>
        <p:guide pos="365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4" Type="http://schemas.openxmlformats.org/officeDocument/2006/relationships/tags" Target="tags/tag138.xml"/><Relationship Id="rId23" Type="http://schemas.openxmlformats.org/officeDocument/2006/relationships/commentAuthors" Target="commentAuthors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handoutMaster" Target="handoutMasters/handoutMaster1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78.xml"/><Relationship Id="rId8" Type="http://schemas.openxmlformats.org/officeDocument/2006/relationships/tags" Target="../tags/tag77.xml"/><Relationship Id="rId7" Type="http://schemas.openxmlformats.org/officeDocument/2006/relationships/tags" Target="../tags/tag76.xml"/><Relationship Id="rId6" Type="http://schemas.openxmlformats.org/officeDocument/2006/relationships/tags" Target="../tags/tag75.xml"/><Relationship Id="rId5" Type="http://schemas.openxmlformats.org/officeDocument/2006/relationships/tags" Target="../tags/tag74.xml"/><Relationship Id="rId4" Type="http://schemas.openxmlformats.org/officeDocument/2006/relationships/tags" Target="../tags/tag73.xml"/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3" Type="http://schemas.openxmlformats.org/officeDocument/2006/relationships/slideLayout" Target="../slideLayouts/slideLayout15.xml"/><Relationship Id="rId12" Type="http://schemas.openxmlformats.org/officeDocument/2006/relationships/tags" Target="../tags/tag81.xml"/><Relationship Id="rId11" Type="http://schemas.openxmlformats.org/officeDocument/2006/relationships/tags" Target="../tags/tag80.xml"/><Relationship Id="rId10" Type="http://schemas.openxmlformats.org/officeDocument/2006/relationships/tags" Target="../tags/tag79.xml"/><Relationship Id="rId1" Type="http://schemas.openxmlformats.org/officeDocument/2006/relationships/tags" Target="../tags/tag70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0.xml"/><Relationship Id="rId8" Type="http://schemas.openxmlformats.org/officeDocument/2006/relationships/tags" Target="../tags/tag89.xml"/><Relationship Id="rId7" Type="http://schemas.openxmlformats.org/officeDocument/2006/relationships/tags" Target="../tags/tag88.xml"/><Relationship Id="rId6" Type="http://schemas.openxmlformats.org/officeDocument/2006/relationships/tags" Target="../tags/tag87.xml"/><Relationship Id="rId5" Type="http://schemas.openxmlformats.org/officeDocument/2006/relationships/tags" Target="../tags/tag86.xml"/><Relationship Id="rId4" Type="http://schemas.openxmlformats.org/officeDocument/2006/relationships/tags" Target="../tags/tag85.xml"/><Relationship Id="rId3" Type="http://schemas.openxmlformats.org/officeDocument/2006/relationships/tags" Target="../tags/tag84.xml"/><Relationship Id="rId2" Type="http://schemas.openxmlformats.org/officeDocument/2006/relationships/tags" Target="../tags/tag83.xml"/><Relationship Id="rId12" Type="http://schemas.openxmlformats.org/officeDocument/2006/relationships/notesSlide" Target="../notesSlides/notesSlide1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91.xml"/><Relationship Id="rId1" Type="http://schemas.openxmlformats.org/officeDocument/2006/relationships/tags" Target="../tags/tag8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5.xml"/><Relationship Id="rId3" Type="http://schemas.openxmlformats.org/officeDocument/2006/relationships/tags" Target="../tags/tag94.xml"/><Relationship Id="rId2" Type="http://schemas.openxmlformats.org/officeDocument/2006/relationships/tags" Target="../tags/tag93.xml"/><Relationship Id="rId1" Type="http://schemas.openxmlformats.org/officeDocument/2006/relationships/tags" Target="../tags/tag92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03.xml"/><Relationship Id="rId8" Type="http://schemas.openxmlformats.org/officeDocument/2006/relationships/tags" Target="../tags/tag102.xml"/><Relationship Id="rId7" Type="http://schemas.openxmlformats.org/officeDocument/2006/relationships/tags" Target="../tags/tag101.xml"/><Relationship Id="rId6" Type="http://schemas.openxmlformats.org/officeDocument/2006/relationships/tags" Target="../tags/tag100.xml"/><Relationship Id="rId5" Type="http://schemas.openxmlformats.org/officeDocument/2006/relationships/tags" Target="../tags/tag99.xml"/><Relationship Id="rId4" Type="http://schemas.openxmlformats.org/officeDocument/2006/relationships/tags" Target="../tags/tag98.xml"/><Relationship Id="rId3" Type="http://schemas.openxmlformats.org/officeDocument/2006/relationships/tags" Target="../tags/tag97.xml"/><Relationship Id="rId2" Type="http://schemas.openxmlformats.org/officeDocument/2006/relationships/tags" Target="../tags/tag96.xml"/><Relationship Id="rId13" Type="http://schemas.openxmlformats.org/officeDocument/2006/relationships/slideLayout" Target="../slideLayouts/slideLayout15.xml"/><Relationship Id="rId12" Type="http://schemas.openxmlformats.org/officeDocument/2006/relationships/tags" Target="../tags/tag106.xml"/><Relationship Id="rId11" Type="http://schemas.openxmlformats.org/officeDocument/2006/relationships/tags" Target="../tags/tag105.xml"/><Relationship Id="rId10" Type="http://schemas.openxmlformats.org/officeDocument/2006/relationships/tags" Target="../tags/tag104.xml"/><Relationship Id="rId1" Type="http://schemas.openxmlformats.org/officeDocument/2006/relationships/tags" Target="../tags/tag9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5.xml"/><Relationship Id="rId4" Type="http://schemas.openxmlformats.org/officeDocument/2006/relationships/tags" Target="../tags/tag110.xml"/><Relationship Id="rId3" Type="http://schemas.openxmlformats.org/officeDocument/2006/relationships/tags" Target="../tags/tag109.xml"/><Relationship Id="rId2" Type="http://schemas.openxmlformats.org/officeDocument/2006/relationships/tags" Target="../tags/tag108.xml"/><Relationship Id="rId1" Type="http://schemas.openxmlformats.org/officeDocument/2006/relationships/tags" Target="../tags/tag107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119.xml"/><Relationship Id="rId8" Type="http://schemas.openxmlformats.org/officeDocument/2006/relationships/tags" Target="../tags/tag118.xml"/><Relationship Id="rId7" Type="http://schemas.openxmlformats.org/officeDocument/2006/relationships/tags" Target="../tags/tag117.xml"/><Relationship Id="rId6" Type="http://schemas.openxmlformats.org/officeDocument/2006/relationships/tags" Target="../tags/tag116.xml"/><Relationship Id="rId5" Type="http://schemas.openxmlformats.org/officeDocument/2006/relationships/tags" Target="../tags/tag115.xml"/><Relationship Id="rId4" Type="http://schemas.openxmlformats.org/officeDocument/2006/relationships/tags" Target="../tags/tag114.xml"/><Relationship Id="rId3" Type="http://schemas.openxmlformats.org/officeDocument/2006/relationships/tags" Target="../tags/tag113.xml"/><Relationship Id="rId2" Type="http://schemas.openxmlformats.org/officeDocument/2006/relationships/tags" Target="../tags/tag112.xml"/><Relationship Id="rId12" Type="http://schemas.openxmlformats.org/officeDocument/2006/relationships/notesSlide" Target="../notesSlides/notesSlide6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120.xml"/><Relationship Id="rId1" Type="http://schemas.openxmlformats.org/officeDocument/2006/relationships/tags" Target="../tags/tag1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15.xml"/><Relationship Id="rId3" Type="http://schemas.openxmlformats.org/officeDocument/2006/relationships/tags" Target="../tags/tag123.xml"/><Relationship Id="rId2" Type="http://schemas.openxmlformats.org/officeDocument/2006/relationships/tags" Target="../tags/tag122.xml"/><Relationship Id="rId1" Type="http://schemas.openxmlformats.org/officeDocument/2006/relationships/tags" Target="../tags/tag12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15.xml"/><Relationship Id="rId4" Type="http://schemas.openxmlformats.org/officeDocument/2006/relationships/tags" Target="../tags/tag127.xml"/><Relationship Id="rId3" Type="http://schemas.openxmlformats.org/officeDocument/2006/relationships/tags" Target="../tags/tag126.xml"/><Relationship Id="rId2" Type="http://schemas.openxmlformats.org/officeDocument/2006/relationships/tags" Target="../tags/tag125.xml"/><Relationship Id="rId1" Type="http://schemas.openxmlformats.org/officeDocument/2006/relationships/tags" Target="../tags/tag124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136.xml"/><Relationship Id="rId8" Type="http://schemas.openxmlformats.org/officeDocument/2006/relationships/tags" Target="../tags/tag135.xml"/><Relationship Id="rId7" Type="http://schemas.openxmlformats.org/officeDocument/2006/relationships/tags" Target="../tags/tag134.xml"/><Relationship Id="rId6" Type="http://schemas.openxmlformats.org/officeDocument/2006/relationships/tags" Target="../tags/tag133.xml"/><Relationship Id="rId5" Type="http://schemas.openxmlformats.org/officeDocument/2006/relationships/tags" Target="../tags/tag132.xml"/><Relationship Id="rId4" Type="http://schemas.openxmlformats.org/officeDocument/2006/relationships/tags" Target="../tags/tag131.xml"/><Relationship Id="rId3" Type="http://schemas.openxmlformats.org/officeDocument/2006/relationships/tags" Target="../tags/tag130.xml"/><Relationship Id="rId2" Type="http://schemas.openxmlformats.org/officeDocument/2006/relationships/tags" Target="../tags/tag129.xml"/><Relationship Id="rId12" Type="http://schemas.openxmlformats.org/officeDocument/2006/relationships/notesSlide" Target="../notesSlides/notesSlide11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137.xml"/><Relationship Id="rId1" Type="http://schemas.openxmlformats.org/officeDocument/2006/relationships/tags" Target="../tags/tag12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任意多边形 44"/>
          <p:cNvSpPr/>
          <p:nvPr>
            <p:custDataLst>
              <p:tags r:id="rId1"/>
            </p:custDataLst>
          </p:nvPr>
        </p:nvSpPr>
        <p:spPr>
          <a:xfrm flipV="1">
            <a:off x="7538194" y="4134567"/>
            <a:ext cx="1941223" cy="1149108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" name="组合 6"/>
          <p:cNvGrpSpPr/>
          <p:nvPr>
            <p:custDataLst>
              <p:tags r:id="rId2"/>
            </p:custDataLst>
          </p:nvPr>
        </p:nvGrpSpPr>
        <p:grpSpPr>
          <a:xfrm>
            <a:off x="7391459" y="2641172"/>
            <a:ext cx="1892947" cy="1892947"/>
            <a:chOff x="4536" y="4280"/>
            <a:chExt cx="2980" cy="2980"/>
          </a:xfrm>
        </p:grpSpPr>
        <p:sp>
          <p:nvSpPr>
            <p:cNvPr id="12" name="圆角矩形 34"/>
            <p:cNvSpPr/>
            <p:nvPr>
              <p:custDataLst>
                <p:tags r:id="rId3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6" name="圆角矩形 38"/>
            <p:cNvSpPr/>
            <p:nvPr>
              <p:custDataLst>
                <p:tags r:id="rId4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52" name="文本框1"/>
          <p:cNvSpPr txBox="1"/>
          <p:nvPr>
            <p:custDataLst>
              <p:tags r:id="rId5"/>
            </p:custDataLst>
          </p:nvPr>
        </p:nvSpPr>
        <p:spPr>
          <a:xfrm>
            <a:off x="6184076" y="5350373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sz="2400" dirty="0" smtClean="0">
                <a:cs typeface="+mn-ea"/>
                <a:sym typeface="+mn-lt"/>
              </a:rPr>
              <a:t>Agent Skill</a:t>
            </a:r>
            <a:endParaRPr lang="en-US" sz="2400" dirty="0" smtClean="0">
              <a:cs typeface="+mn-ea"/>
              <a:sym typeface="+mn-lt"/>
            </a:endParaRPr>
          </a:p>
        </p:txBody>
      </p:sp>
      <p:sp>
        <p:nvSpPr>
          <p:cNvPr id="10" name="文本框 9"/>
          <p:cNvSpPr txBox="1"/>
          <p:nvPr>
            <p:custDataLst>
              <p:tags r:id="rId6"/>
            </p:custDataLst>
          </p:nvPr>
        </p:nvSpPr>
        <p:spPr>
          <a:xfrm>
            <a:off x="7981576" y="3119490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文本框1"/>
          <p:cNvSpPr txBox="1"/>
          <p:nvPr>
            <p:custDataLst>
              <p:tags r:id="rId7"/>
            </p:custDataLst>
          </p:nvPr>
        </p:nvSpPr>
        <p:spPr>
          <a:xfrm>
            <a:off x="1483995" y="5350510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工具调用基础原理与配置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>
            <p:custDataLst>
              <p:tags r:id="rId8"/>
            </p:custDataLst>
          </p:nvPr>
        </p:nvGrpSpPr>
        <p:grpSpPr>
          <a:xfrm>
            <a:off x="2691210" y="2004060"/>
            <a:ext cx="2087958" cy="2571359"/>
            <a:chOff x="4536" y="3212"/>
            <a:chExt cx="3287" cy="4048"/>
          </a:xfrm>
        </p:grpSpPr>
        <p:sp>
          <p:nvSpPr>
            <p:cNvPr id="3" name="圆角矩形 34"/>
            <p:cNvSpPr/>
            <p:nvPr>
              <p:custDataLst>
                <p:tags r:id="rId9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" name="圆角矩形 38"/>
            <p:cNvSpPr/>
            <p:nvPr>
              <p:custDataLst>
                <p:tags r:id="rId10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" name="任意多边形 42"/>
            <p:cNvSpPr/>
            <p:nvPr>
              <p:custDataLst>
                <p:tags r:id="rId11"/>
              </p:custDataLst>
            </p:nvPr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9" name="文本框 8"/>
          <p:cNvSpPr txBox="1"/>
          <p:nvPr>
            <p:custDataLst>
              <p:tags r:id="rId12"/>
            </p:custDataLst>
          </p:nvPr>
        </p:nvSpPr>
        <p:spPr>
          <a:xfrm>
            <a:off x="3281327" y="3153168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5198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11" name="组合 10"/>
          <p:cNvGrpSpPr/>
          <p:nvPr/>
        </p:nvGrpSpPr>
        <p:grpSpPr>
          <a:xfrm rot="0">
            <a:off x="4238625" y="1424305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70070" y="2366010"/>
            <a:ext cx="7292975" cy="36779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RAGflow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的平台实践中，学员会接触到两类工具调用能力：平台内置工具和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Function Calling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（自定义函数）。内置工具接入门槛低，适合快速体验和原型验证；而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Function Calling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灵活度高，能够更贴合具体业务需求。无论选择哪种方式，两者共同的工程要求是必须拥有清晰的输入输出定义，最好以结构化的方式明确字段类型并稳定输出内容。同时，必须为每个工具调用设计兜底结果，以应对调用失败或异常场景。如果工具返回的是长篇原始文本，后续节点往往难以有效消费这些数据；相反，如果返回的是结构化字段（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JSON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对象），则工作流更容易稳定运行。这一判断是工具设计中的核心工程原则，直接影响工作流的健壮性和可维护性。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46265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221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对低代码工作流而言，工具调用前的门控机制是一项基础却极易被忽视的设计。许多学员在接好工具后，习惯性地将用户输入直接连接到工具节点，期望系统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边理解边执行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这种做法在演示环境中偶尔能跑通，但在真实任务中非常容易失控，导致接口被错误触发或参数不完整。更专业的做法是先做门控，再进行调用。所谓门控，就是在进入工具节点前，先判断当前任务是否已具备执行条件。以市场需求分析场景为例，至少应先确认产品方向、行业范围、关注主题等关键信息是否齐全；如果条件不足，则应走追问分支，而不是勉强发起调用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336934" y="1792605"/>
            <a:ext cx="3494356" cy="4771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4169907" y="1773555"/>
            <a:ext cx="7664450" cy="4690745"/>
            <a:chOff x="450850" y="1397000"/>
            <a:chExt cx="5784850" cy="4690745"/>
          </a:xfrm>
        </p:grpSpPr>
        <p:sp>
          <p:nvSpPr>
            <p:cNvPr id="11" name="矩形 10"/>
            <p:cNvSpPr/>
            <p:nvPr>
              <p:custDataLst>
                <p:tags r:id="rId1"/>
              </p:custDataLst>
            </p:nvPr>
          </p:nvSpPr>
          <p:spPr>
            <a:xfrm>
              <a:off x="450850" y="1397000"/>
              <a:ext cx="5784850" cy="46907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2" name="矩形 11"/>
            <p:cNvSpPr/>
            <p:nvPr>
              <p:custDataLst>
                <p:tags r:id="rId2"/>
              </p:custDataLst>
            </p:nvPr>
          </p:nvSpPr>
          <p:spPr>
            <a:xfrm>
              <a:off x="574040" y="1519555"/>
              <a:ext cx="5521960" cy="4351655"/>
            </a:xfrm>
            <a:prstGeom prst="rect">
              <a:avLst/>
            </a:prstGeom>
            <a:solidFill>
              <a:srgbClr val="4276AA"/>
            </a:solidFill>
            <a:ln>
              <a:noFill/>
            </a:ln>
          </p:spPr>
          <p:style>
            <a:lnRef idx="2">
              <a:srgbClr val="8590CA">
                <a:shade val="50000"/>
              </a:srgbClr>
            </a:lnRef>
            <a:fillRef idx="1">
              <a:srgbClr val="8590CA"/>
            </a:fillRef>
            <a:effectRef idx="0">
              <a:srgbClr val="8590CA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4493895" y="1978025"/>
            <a:ext cx="6997700" cy="41814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在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RAGflow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中，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IF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节点可以很好地实现门控机制。学员需要理解，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IF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节点在这里不仅是一个流程语法，更承担着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执行授权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的角色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只有当前置条件满足时，工具节点才获得执行资格。这种设计带来三个核心价值：第一，减少无意义调用，避免接口被错误触发，节省资源；第二，提高参数质量，降低调用失败率，确保每次调用都有完整输入；第三，让后续排障更清晰，能够快速定位问题出在条件判断环节还是调用本身。学员应借此建立认知：工作流中的每一次外部调用，都应被视为有成本、有风险的动作，而不是模型想到就做的随手行为。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29756" y="1773555"/>
            <a:ext cx="3507243" cy="46907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任意多边形 44"/>
          <p:cNvSpPr/>
          <p:nvPr>
            <p:custDataLst>
              <p:tags r:id="rId1"/>
            </p:custDataLst>
          </p:nvPr>
        </p:nvSpPr>
        <p:spPr>
          <a:xfrm flipV="1">
            <a:off x="7538194" y="4134567"/>
            <a:ext cx="1941223" cy="1149108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" name="组合 6"/>
          <p:cNvGrpSpPr/>
          <p:nvPr>
            <p:custDataLst>
              <p:tags r:id="rId2"/>
            </p:custDataLst>
          </p:nvPr>
        </p:nvGrpSpPr>
        <p:grpSpPr>
          <a:xfrm>
            <a:off x="7391459" y="2641172"/>
            <a:ext cx="1892947" cy="1892947"/>
            <a:chOff x="4536" y="4280"/>
            <a:chExt cx="2980" cy="2980"/>
          </a:xfrm>
        </p:grpSpPr>
        <p:sp>
          <p:nvSpPr>
            <p:cNvPr id="12" name="圆角矩形 34"/>
            <p:cNvSpPr/>
            <p:nvPr>
              <p:custDataLst>
                <p:tags r:id="rId3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6" name="圆角矩形 38"/>
            <p:cNvSpPr/>
            <p:nvPr>
              <p:custDataLst>
                <p:tags r:id="rId4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rgbClr val="006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52" name="文本框1"/>
          <p:cNvSpPr txBox="1"/>
          <p:nvPr>
            <p:custDataLst>
              <p:tags r:id="rId5"/>
            </p:custDataLst>
          </p:nvPr>
        </p:nvSpPr>
        <p:spPr>
          <a:xfrm>
            <a:off x="6184076" y="5350373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sz="2400" b="1" dirty="0" smtClean="0">
                <a:solidFill>
                  <a:srgbClr val="0064D2"/>
                </a:solidFill>
                <a:cs typeface="+mn-ea"/>
                <a:sym typeface="+mn-lt"/>
              </a:rPr>
              <a:t>Agent Skill</a:t>
            </a:r>
            <a:endParaRPr lang="en-US" sz="2400" b="1" dirty="0" smtClean="0">
              <a:solidFill>
                <a:srgbClr val="0064D2"/>
              </a:solidFill>
              <a:cs typeface="+mn-ea"/>
              <a:sym typeface="+mn-lt"/>
            </a:endParaRPr>
          </a:p>
        </p:txBody>
      </p:sp>
      <p:sp>
        <p:nvSpPr>
          <p:cNvPr id="10" name="文本框 9"/>
          <p:cNvSpPr txBox="1"/>
          <p:nvPr>
            <p:custDataLst>
              <p:tags r:id="rId6"/>
            </p:custDataLst>
          </p:nvPr>
        </p:nvSpPr>
        <p:spPr>
          <a:xfrm>
            <a:off x="7981576" y="3119490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文本框1"/>
          <p:cNvSpPr txBox="1"/>
          <p:nvPr>
            <p:custDataLst>
              <p:tags r:id="rId7"/>
            </p:custDataLst>
          </p:nvPr>
        </p:nvSpPr>
        <p:spPr>
          <a:xfrm>
            <a:off x="1483995" y="5350510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工具调用基础原理与配置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>
            <p:custDataLst>
              <p:tags r:id="rId8"/>
            </p:custDataLst>
          </p:nvPr>
        </p:nvGrpSpPr>
        <p:grpSpPr>
          <a:xfrm>
            <a:off x="2691210" y="2004060"/>
            <a:ext cx="2087958" cy="2571359"/>
            <a:chOff x="4536" y="3212"/>
            <a:chExt cx="3287" cy="4048"/>
          </a:xfrm>
        </p:grpSpPr>
        <p:sp>
          <p:nvSpPr>
            <p:cNvPr id="3" name="圆角矩形 34"/>
            <p:cNvSpPr/>
            <p:nvPr>
              <p:custDataLst>
                <p:tags r:id="rId9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" name="圆角矩形 38"/>
            <p:cNvSpPr/>
            <p:nvPr>
              <p:custDataLst>
                <p:tags r:id="rId10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" name="任意多边形 42"/>
            <p:cNvSpPr/>
            <p:nvPr>
              <p:custDataLst>
                <p:tags r:id="rId11"/>
              </p:custDataLst>
            </p:nvPr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9" name="文本框 8"/>
          <p:cNvSpPr txBox="1"/>
          <p:nvPr>
            <p:custDataLst>
              <p:tags r:id="rId12"/>
            </p:custDataLst>
          </p:nvPr>
        </p:nvSpPr>
        <p:spPr>
          <a:xfrm>
            <a:off x="3281327" y="3153168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010285" y="1899920"/>
            <a:ext cx="6406515" cy="38849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Agent 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2025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年由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Anthropic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公司提出的概念，旨在解决复杂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系统中能力复用与组合的问题，目前已成为行业中的标准设计模式。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是一个模块化、可复用、可组合的能力包，能够被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AI 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按需加载和调用。与传统的把所有规则写在一个提示词里不同，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将某类任务相关的指令、资源和工具封装成一个独立的单元。为了更好地理解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的独特性，可以将其与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Prompt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进行对比：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Prompt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是对单次推理的语言约束，面向模型输出，不可跨任务复用；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是对外部执行能力的调用接口，通常是函数、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API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或脚本，无内嵌规则；而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则是围绕某类任务沉淀的可复用能力单元，包含指令、资源、示例，可组合使用。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矩形 10"/>
          <p:cNvSpPr/>
          <p:nvPr/>
        </p:nvSpPr>
        <p:spPr>
          <a:xfrm>
            <a:off x="674370" y="1619885"/>
            <a:ext cx="7019290" cy="4445635"/>
          </a:xfrm>
          <a:custGeom>
            <a:avLst/>
            <a:gdLst/>
            <a:ahLst/>
            <a:cxnLst/>
            <a:rect l="l" t="t" r="r" b="b"/>
            <a:pathLst>
              <a:path w="1759038" h="1334706">
                <a:moveTo>
                  <a:pt x="65637" y="63758"/>
                </a:moveTo>
                <a:lnTo>
                  <a:pt x="65637" y="1271391"/>
                </a:lnTo>
                <a:lnTo>
                  <a:pt x="1711798" y="1271391"/>
                </a:lnTo>
                <a:lnTo>
                  <a:pt x="1711798" y="63758"/>
                </a:lnTo>
                <a:close/>
                <a:moveTo>
                  <a:pt x="0" y="0"/>
                </a:moveTo>
                <a:lnTo>
                  <a:pt x="1759038" y="0"/>
                </a:lnTo>
                <a:lnTo>
                  <a:pt x="1759038" y="1334706"/>
                </a:lnTo>
                <a:lnTo>
                  <a:pt x="0" y="133470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20000"/>
              </a:lnSpc>
            </a:pPr>
            <a:endParaRPr lang="zh-CN" altLang="en-US">
              <a:solidFill>
                <a:srgbClr val="000000"/>
              </a:solidFill>
              <a:cs typeface="+mn-ea"/>
              <a:sym typeface="+mn-lt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8086725" y="2372361"/>
            <a:ext cx="3798570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/>
          <p:cNvGrpSpPr/>
          <p:nvPr/>
        </p:nvGrpSpPr>
        <p:grpSpPr>
          <a:xfrm rot="0">
            <a:off x="4170045" y="1786255"/>
            <a:ext cx="7734935" cy="4715510"/>
            <a:chOff x="5049" y="1927"/>
            <a:chExt cx="9267" cy="5731"/>
          </a:xfrm>
          <a:solidFill>
            <a:srgbClr val="1E8CE5"/>
          </a:solidFill>
        </p:grpSpPr>
        <p:sp>
          <p:nvSpPr>
            <p:cNvPr id="16" name="任意多边形 15"/>
            <p:cNvSpPr/>
            <p:nvPr>
              <p:custDataLst>
                <p:tags r:id="rId1"/>
              </p:custDataLst>
            </p:nvPr>
          </p:nvSpPr>
          <p:spPr>
            <a:xfrm rot="10800000">
              <a:off x="11403" y="7498"/>
              <a:ext cx="1928" cy="150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1950" h="150">
                  <a:moveTo>
                    <a:pt x="157" y="0"/>
                  </a:moveTo>
                  <a:lnTo>
                    <a:pt x="1793" y="0"/>
                  </a:lnTo>
                  <a:lnTo>
                    <a:pt x="1950" y="150"/>
                  </a:lnTo>
                  <a:lnTo>
                    <a:pt x="0" y="150"/>
                  </a:lnTo>
                  <a:lnTo>
                    <a:pt x="157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7" name="任意多边形 16"/>
            <p:cNvSpPr/>
            <p:nvPr>
              <p:custDataLst>
                <p:tags r:id="rId2"/>
              </p:custDataLst>
            </p:nvPr>
          </p:nvSpPr>
          <p:spPr>
            <a:xfrm rot="5400000">
              <a:off x="6739" y="236"/>
              <a:ext cx="5731" cy="9112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4540" h="9270">
                  <a:moveTo>
                    <a:pt x="392" y="125"/>
                  </a:moveTo>
                  <a:lnTo>
                    <a:pt x="400" y="7061"/>
                  </a:lnTo>
                  <a:lnTo>
                    <a:pt x="152" y="7361"/>
                  </a:lnTo>
                  <a:lnTo>
                    <a:pt x="164" y="9131"/>
                  </a:lnTo>
                  <a:lnTo>
                    <a:pt x="4383" y="9145"/>
                  </a:lnTo>
                  <a:lnTo>
                    <a:pt x="4383" y="125"/>
                  </a:lnTo>
                  <a:lnTo>
                    <a:pt x="392" y="125"/>
                  </a:lnTo>
                  <a:close/>
                  <a:moveTo>
                    <a:pt x="252" y="0"/>
                  </a:moveTo>
                  <a:lnTo>
                    <a:pt x="4540" y="0"/>
                  </a:lnTo>
                  <a:lnTo>
                    <a:pt x="4540" y="830"/>
                  </a:lnTo>
                  <a:lnTo>
                    <a:pt x="4390" y="987"/>
                  </a:lnTo>
                  <a:lnTo>
                    <a:pt x="4390" y="2623"/>
                  </a:lnTo>
                  <a:lnTo>
                    <a:pt x="4540" y="2780"/>
                  </a:lnTo>
                  <a:lnTo>
                    <a:pt x="4540" y="9270"/>
                  </a:lnTo>
                  <a:lnTo>
                    <a:pt x="4342" y="9269"/>
                  </a:lnTo>
                  <a:lnTo>
                    <a:pt x="4238" y="9170"/>
                  </a:lnTo>
                  <a:lnTo>
                    <a:pt x="3418" y="9170"/>
                  </a:lnTo>
                  <a:lnTo>
                    <a:pt x="3317" y="9266"/>
                  </a:lnTo>
                  <a:lnTo>
                    <a:pt x="8" y="9256"/>
                  </a:lnTo>
                  <a:lnTo>
                    <a:pt x="0" y="7269"/>
                  </a:lnTo>
                  <a:lnTo>
                    <a:pt x="254" y="7041"/>
                  </a:lnTo>
                  <a:lnTo>
                    <a:pt x="252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8" name="梯形 17"/>
            <p:cNvSpPr/>
            <p:nvPr>
              <p:custDataLst>
                <p:tags r:id="rId3"/>
              </p:custDataLst>
            </p:nvPr>
          </p:nvSpPr>
          <p:spPr>
            <a:xfrm rot="5400000">
              <a:off x="13749" y="4156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梯形 18"/>
            <p:cNvSpPr/>
            <p:nvPr>
              <p:custDataLst>
                <p:tags r:id="rId4"/>
              </p:custDataLst>
            </p:nvPr>
          </p:nvSpPr>
          <p:spPr>
            <a:xfrm>
              <a:off x="6194" y="7431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1" name="矩形 20"/>
          <p:cNvSpPr/>
          <p:nvPr/>
        </p:nvSpPr>
        <p:spPr>
          <a:xfrm>
            <a:off x="503121" y="1842581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11650" y="2206625"/>
            <a:ext cx="7312025" cy="41090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从软件工程角度看，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对应了关注点分离与高内聚低耦合的设计原则。模块化的设计让每项能力边界清晰，便于独立开发、测试和版本管理。同一个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可以在多个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或流程中被按需复用加载，这样既能避免重复劳动，又能减少常驻上下文占用。多个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还可以像积木一样组合，形成更复杂的能力，从而提升整个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系统的灵活性和可维护性。这种设计思路使得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成为构建高效、可扩展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AI 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系统的关键组件。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/>
          <p:cNvGrpSpPr/>
          <p:nvPr/>
        </p:nvGrpSpPr>
        <p:grpSpPr>
          <a:xfrm rot="0">
            <a:off x="326390" y="1431290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9" name="矩形 8"/>
          <p:cNvSpPr/>
          <p:nvPr/>
        </p:nvSpPr>
        <p:spPr>
          <a:xfrm>
            <a:off x="83369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58470" y="2379980"/>
            <a:ext cx="7291705" cy="3641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根据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2026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年的工程最佳实践，一个规范的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通常包含三层结构：元数据层、指令层和资源层。元数据层包括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名称、简要描述、适用场景、版本号等信息，其作用是帮助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发现并选择哪个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适合当前任务。指令层包含详细的执行规则、约束条件、步骤分解、输出格式要求等，在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激活时加载到上下文中，用于指导模型的行为。资源层则提供具体的数据、工具函数、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Few-shot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示例、模板、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API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密钥等，在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执行时被调用，为实际运行提供所需的素材。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4241800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/>
          <p:cNvSpPr/>
          <p:nvPr/>
        </p:nvSpPr>
        <p:spPr>
          <a:xfrm>
            <a:off x="488334" y="1904999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6686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一三层架构的设计思想是分层解耦：元数据用于发现，指令用于行为约束，资源用于实际执行。三层各有侧重，便于独立演进。例如，当业务规则发生变化时，只需修改指令层的内容，而无需改动元数据和资源层；同样，当需要更新数据源或工具时，也只需调整资源层。这种分层设计使得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的维护和升级更加灵活高效，也降低了各层之间的耦合度，符合软件工程中的最佳实践。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429757" y="1773555"/>
            <a:ext cx="7664450" cy="4690745"/>
            <a:chOff x="450850" y="1397000"/>
            <a:chExt cx="5784850" cy="4690745"/>
          </a:xfrm>
        </p:grpSpPr>
        <p:sp>
          <p:nvSpPr>
            <p:cNvPr id="11" name="矩形 10"/>
            <p:cNvSpPr/>
            <p:nvPr>
              <p:custDataLst>
                <p:tags r:id="rId1"/>
              </p:custDataLst>
            </p:nvPr>
          </p:nvSpPr>
          <p:spPr>
            <a:xfrm>
              <a:off x="450850" y="1397000"/>
              <a:ext cx="5784850" cy="46907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2" name="矩形 11"/>
            <p:cNvSpPr/>
            <p:nvPr>
              <p:custDataLst>
                <p:tags r:id="rId2"/>
              </p:custDataLst>
            </p:nvPr>
          </p:nvSpPr>
          <p:spPr>
            <a:xfrm>
              <a:off x="574040" y="1519555"/>
              <a:ext cx="5521960" cy="4351655"/>
            </a:xfrm>
            <a:prstGeom prst="rect">
              <a:avLst/>
            </a:prstGeom>
            <a:solidFill>
              <a:srgbClr val="4276AA"/>
            </a:solidFill>
            <a:ln>
              <a:noFill/>
            </a:ln>
          </p:spPr>
          <p:style>
            <a:lnRef idx="2">
              <a:srgbClr val="8590CA">
                <a:shade val="50000"/>
              </a:srgbClr>
            </a:lnRef>
            <a:fillRef idx="1">
              <a:srgbClr val="8590CA"/>
            </a:fillRef>
            <a:effectRef idx="0">
              <a:srgbClr val="8590CA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673100" y="1967230"/>
            <a:ext cx="7158355" cy="42024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一个可复用的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必须明确其输入输出的形式与规则，这类似于编程中函数的签名。接口定义不清的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会变成黑盒，难以被其他开发者或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正确调用。与软件开发类似，接口设计是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能否被复用的关键。如果输入输出不明确，后续组合或替换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时会非常困难。因此，在设计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时，需要清晰地定义输入参数的类型、结构和含义，以及输出结果的格式和内容。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8368684" y="1773555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0"/>
          <p:cNvSpPr/>
          <p:nvPr/>
        </p:nvSpPr>
        <p:spPr>
          <a:xfrm>
            <a:off x="4782820" y="1619885"/>
            <a:ext cx="7019290" cy="4445635"/>
          </a:xfrm>
          <a:custGeom>
            <a:avLst/>
            <a:gdLst/>
            <a:ahLst/>
            <a:cxnLst/>
            <a:rect l="l" t="t" r="r" b="b"/>
            <a:pathLst>
              <a:path w="1759038" h="1334706">
                <a:moveTo>
                  <a:pt x="65637" y="63758"/>
                </a:moveTo>
                <a:lnTo>
                  <a:pt x="65637" y="1271391"/>
                </a:lnTo>
                <a:lnTo>
                  <a:pt x="1711798" y="1271391"/>
                </a:lnTo>
                <a:lnTo>
                  <a:pt x="1711798" y="63758"/>
                </a:lnTo>
                <a:close/>
                <a:moveTo>
                  <a:pt x="0" y="0"/>
                </a:moveTo>
                <a:lnTo>
                  <a:pt x="1759038" y="0"/>
                </a:lnTo>
                <a:lnTo>
                  <a:pt x="1759038" y="1334706"/>
                </a:lnTo>
                <a:lnTo>
                  <a:pt x="0" y="133470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20000"/>
              </a:lnSpc>
            </a:pPr>
            <a:endParaRPr lang="zh-CN" altLang="en-US">
              <a:solidFill>
                <a:srgbClr val="000000"/>
              </a:solidFill>
              <a:cs typeface="+mn-ea"/>
              <a:sym typeface="+mn-lt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612775" y="2370138"/>
            <a:ext cx="3798570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5031105" y="1828165"/>
            <a:ext cx="6608445" cy="40030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在实践中，可以先从最简单的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输入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→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处理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→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模式开始，逐步增加校验、异常处理和版本管理。例如，一个数据清洗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的输入可以是一个包含原始数据的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JSON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对象，输出则是清洗后的规范数据。随着使用场景的扩展，可以逐步加入输入参数校验、错误处理机制以及版本号管理，确保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的稳定性和可追溯性。通过这样的迭代优化，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的接口会越来越健壮，复用性也会越来越高。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/>
          <p:cNvGrpSpPr/>
          <p:nvPr/>
        </p:nvGrpSpPr>
        <p:grpSpPr>
          <a:xfrm rot="0">
            <a:off x="385445" y="1786255"/>
            <a:ext cx="7734935" cy="4715510"/>
            <a:chOff x="5049" y="1927"/>
            <a:chExt cx="9267" cy="5731"/>
          </a:xfrm>
          <a:solidFill>
            <a:srgbClr val="1E8CE5"/>
          </a:solidFill>
        </p:grpSpPr>
        <p:sp>
          <p:nvSpPr>
            <p:cNvPr id="16" name="任意多边形 15"/>
            <p:cNvSpPr/>
            <p:nvPr>
              <p:custDataLst>
                <p:tags r:id="rId1"/>
              </p:custDataLst>
            </p:nvPr>
          </p:nvSpPr>
          <p:spPr>
            <a:xfrm rot="10800000">
              <a:off x="11403" y="7498"/>
              <a:ext cx="1928" cy="150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1950" h="150">
                  <a:moveTo>
                    <a:pt x="157" y="0"/>
                  </a:moveTo>
                  <a:lnTo>
                    <a:pt x="1793" y="0"/>
                  </a:lnTo>
                  <a:lnTo>
                    <a:pt x="1950" y="150"/>
                  </a:lnTo>
                  <a:lnTo>
                    <a:pt x="0" y="150"/>
                  </a:lnTo>
                  <a:lnTo>
                    <a:pt x="157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7" name="任意多边形 16"/>
            <p:cNvSpPr/>
            <p:nvPr>
              <p:custDataLst>
                <p:tags r:id="rId2"/>
              </p:custDataLst>
            </p:nvPr>
          </p:nvSpPr>
          <p:spPr>
            <a:xfrm rot="5400000">
              <a:off x="6739" y="236"/>
              <a:ext cx="5731" cy="9112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4540" h="9270">
                  <a:moveTo>
                    <a:pt x="392" y="125"/>
                  </a:moveTo>
                  <a:lnTo>
                    <a:pt x="400" y="7061"/>
                  </a:lnTo>
                  <a:lnTo>
                    <a:pt x="152" y="7361"/>
                  </a:lnTo>
                  <a:lnTo>
                    <a:pt x="164" y="9131"/>
                  </a:lnTo>
                  <a:lnTo>
                    <a:pt x="4383" y="9145"/>
                  </a:lnTo>
                  <a:lnTo>
                    <a:pt x="4383" y="125"/>
                  </a:lnTo>
                  <a:lnTo>
                    <a:pt x="392" y="125"/>
                  </a:lnTo>
                  <a:close/>
                  <a:moveTo>
                    <a:pt x="252" y="0"/>
                  </a:moveTo>
                  <a:lnTo>
                    <a:pt x="4540" y="0"/>
                  </a:lnTo>
                  <a:lnTo>
                    <a:pt x="4540" y="830"/>
                  </a:lnTo>
                  <a:lnTo>
                    <a:pt x="4390" y="987"/>
                  </a:lnTo>
                  <a:lnTo>
                    <a:pt x="4390" y="2623"/>
                  </a:lnTo>
                  <a:lnTo>
                    <a:pt x="4540" y="2780"/>
                  </a:lnTo>
                  <a:lnTo>
                    <a:pt x="4540" y="9270"/>
                  </a:lnTo>
                  <a:lnTo>
                    <a:pt x="4342" y="9269"/>
                  </a:lnTo>
                  <a:lnTo>
                    <a:pt x="4238" y="9170"/>
                  </a:lnTo>
                  <a:lnTo>
                    <a:pt x="3418" y="9170"/>
                  </a:lnTo>
                  <a:lnTo>
                    <a:pt x="3317" y="9266"/>
                  </a:lnTo>
                  <a:lnTo>
                    <a:pt x="8" y="9256"/>
                  </a:lnTo>
                  <a:lnTo>
                    <a:pt x="0" y="7269"/>
                  </a:lnTo>
                  <a:lnTo>
                    <a:pt x="254" y="7041"/>
                  </a:lnTo>
                  <a:lnTo>
                    <a:pt x="252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8" name="梯形 17"/>
            <p:cNvSpPr/>
            <p:nvPr>
              <p:custDataLst>
                <p:tags r:id="rId3"/>
              </p:custDataLst>
            </p:nvPr>
          </p:nvSpPr>
          <p:spPr>
            <a:xfrm rot="5400000">
              <a:off x="13749" y="4156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梯形 18"/>
            <p:cNvSpPr/>
            <p:nvPr>
              <p:custDataLst>
                <p:tags r:id="rId4"/>
              </p:custDataLst>
            </p:nvPr>
          </p:nvSpPr>
          <p:spPr>
            <a:xfrm>
              <a:off x="6194" y="7431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1" name="矩形 20"/>
          <p:cNvSpPr/>
          <p:nvPr/>
        </p:nvSpPr>
        <p:spPr>
          <a:xfrm>
            <a:off x="8275521" y="1842581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527050" y="2218055"/>
            <a:ext cx="7366000" cy="40970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判断一个逻辑是否适合封装为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，可以从三个维度来考量。首先是是否多次使用：如果某段逻辑只在当前对话流程中用到，换一个场景就毫无意义，那就没有必要单独建立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相反，如果同样的处理步骤在多个业务场景、不同用户请求中都会出现，那么把它固化下来，就能避免每次都重新描述规则的重复劳动。例如需求标准化，将用户口语化、模糊的输入转化为结构化的任务参数，这种转换逻辑在几乎每一个意图理解环节中都会被调用，天然适合封装。数据清洗、结果摘要生成、多语言翻译等也是类似的例子，这些能力一旦做好，就可以在多个下游任务中直接调用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5198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11" name="组合 10"/>
          <p:cNvGrpSpPr/>
          <p:nvPr/>
        </p:nvGrpSpPr>
        <p:grpSpPr>
          <a:xfrm rot="0">
            <a:off x="4238625" y="1424305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70070" y="2366010"/>
            <a:ext cx="7292975" cy="36779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其次是输入输出是否稳定。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本质类似于编程中的函数，要想被放心地调用，就必须有明确、可靠的签名。这意味着输入参数要类型明确、结构固定，不能随上下文变化；输出结构也应当相对确定，调用者能够稳定地预期结果格式。如果一个逻辑的输入高度依赖于当前对话的瞬时状态，比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把上一轮回答中的第二个数字加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1”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，这种指令与特定对话历史紧紧绑在一起，换一个对话就完全失效，那就很难作为独立的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来设计。此外，过于简单的逻辑，比如一句代码就能完成的类型转换，封装成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虽然形式上满足输入输出稳定，但实际上增加了调用链的复杂度，得不偿失。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46265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221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最后是是否值得单独维护。一个适合封装的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应当是相对独立的，不与其他能力高度耦合，职责清晰。同时，需要预见到它在未来有迭代优化的可能，比如数据清洗规则会随着业务变化而调整，或者翻译术语库需要持续更新。将这些逻辑聚拢在一个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内部，后续的修改就只需要在一个地方进行，不会牵一发而动全身。相反，如果某段逻辑只在一个特定流程里用一次，且未来几乎不会再变，单独把它抽出来反而会增加项目的理解和导航成本。因此，在决定是否封装时，需要综合评估复用频率、接口稳定性和维护收益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336934" y="1792605"/>
            <a:ext cx="3494356" cy="4771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71.xml><?xml version="1.0" encoding="utf-8"?>
<p:tagLst xmlns:p="http://schemas.openxmlformats.org/presentationml/2006/main">
  <p:tag name="KSO_WM_DIAGRAM_VIRTUALLY_FRAME" val="{&quot;height&quot;:333.6891855480546,&quot;left&quot;:181.0367716535433,&quot;top&quot;:150.5,&quot;width&quot;:585.2126771653544}"/>
</p:tagLst>
</file>

<file path=ppt/tags/tag72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73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74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75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76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77.xml><?xml version="1.0" encoding="utf-8"?>
<p:tagLst xmlns:p="http://schemas.openxmlformats.org/presentationml/2006/main">
  <p:tag name="KSO_WM_DIAGRAM_VIRTUALLY_FRAME" val="{&quot;height&quot;:333.6891855480546,&quot;left&quot;:181.0367716535433,&quot;top&quot;:150.5,&quot;width&quot;:585.2126771653544}"/>
</p:tagLst>
</file>

<file path=ppt/tags/tag78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79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80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81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93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96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97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98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99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100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101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102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103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104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105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106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122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KSO_WM_BEAUTIFY_FLAG" val=""/>
</p:tagLst>
</file>

<file path=ppt/tags/tag138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3095</Words>
  <Application>WPS 演示</Application>
  <PresentationFormat>宽屏</PresentationFormat>
  <Paragraphs>120</Paragraphs>
  <Slides>14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14</vt:i4>
      </vt:variant>
    </vt:vector>
  </HeadingPairs>
  <TitlesOfParts>
    <vt:vector size="25" baseType="lpstr">
      <vt:lpstr>Arial</vt:lpstr>
      <vt:lpstr>宋体</vt:lpstr>
      <vt:lpstr>Wingdings</vt:lpstr>
      <vt:lpstr>微软雅黑</vt:lpstr>
      <vt:lpstr>Wingdings</vt:lpstr>
      <vt:lpstr>等线</vt:lpstr>
      <vt:lpstr>DIN-BoldItalic</vt:lpstr>
      <vt:lpstr>思源宋体</vt:lpstr>
      <vt:lpstr>JetBrainsMono NF</vt:lpstr>
      <vt:lpstr>1_自定义设计方案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1149</cp:revision>
  <dcterms:created xsi:type="dcterms:W3CDTF">2019-06-19T02:08:00Z</dcterms:created>
  <dcterms:modified xsi:type="dcterms:W3CDTF">2026-05-23T13:54:46Z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84C3160FD5A84BF29F8ACF8FCA0DEF04_13</vt:lpwstr>
  </property>
</Properties>
</file>