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Lst>
  <p:notesMasterIdLst>
    <p:notesMasterId r:id="rId6"/>
  </p:notesMasterIdLst>
  <p:handoutMasterIdLst>
    <p:handoutMasterId r:id="rId23"/>
  </p:handoutMasterIdLst>
  <p:sldIdLst>
    <p:sldId id="2880" r:id="rId4"/>
    <p:sldId id="2897" r:id="rId5"/>
    <p:sldId id="2896" r:id="rId7"/>
    <p:sldId id="2895" r:id="rId8"/>
    <p:sldId id="2894" r:id="rId9"/>
    <p:sldId id="2893" r:id="rId10"/>
    <p:sldId id="2892" r:id="rId11"/>
    <p:sldId id="2891" r:id="rId12"/>
    <p:sldId id="2890" r:id="rId13"/>
    <p:sldId id="2889" r:id="rId14"/>
    <p:sldId id="2888" r:id="rId15"/>
    <p:sldId id="2887" r:id="rId16"/>
    <p:sldId id="2886" r:id="rId17"/>
    <p:sldId id="2885" r:id="rId18"/>
    <p:sldId id="2884" r:id="rId19"/>
    <p:sldId id="2883" r:id="rId20"/>
    <p:sldId id="2882" r:id="rId21"/>
    <p:sldId id="2881" r:id="rId22"/>
  </p:sldIdLst>
  <p:sldSz cx="12192000" cy="6858000"/>
  <p:notesSz cx="6858000" cy="9144000"/>
  <p:custDataLst>
    <p:tags r:id="rId2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32" userDrawn="1">
          <p15:clr>
            <a:srgbClr val="A4A3A4"/>
          </p15:clr>
        </p15:guide>
        <p15:guide id="2" pos="367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832"/>
        <p:guide pos="367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notesMaster" Target="notesMasters/notesMaster1.xml"/><Relationship Id="rId5" Type="http://schemas.openxmlformats.org/officeDocument/2006/relationships/slide" Target="slides/slide2.xml"/><Relationship Id="rId4" Type="http://schemas.openxmlformats.org/officeDocument/2006/relationships/slide" Target="slides/slide1.xml"/><Relationship Id="rId3" Type="http://schemas.openxmlformats.org/officeDocument/2006/relationships/slideMaster" Target="slideMasters/slideMaster2.xml"/><Relationship Id="rId28" Type="http://schemas.openxmlformats.org/officeDocument/2006/relationships/tags" Target="tags/tag172.xml"/><Relationship Id="rId27" Type="http://schemas.openxmlformats.org/officeDocument/2006/relationships/commentAuthors" Target="commentAuthors.xml"/><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handoutMaster" Target="handoutMasters/handoutMaster1.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78.xml"/><Relationship Id="rId8" Type="http://schemas.openxmlformats.org/officeDocument/2006/relationships/tags" Target="../tags/tag77.xml"/><Relationship Id="rId7" Type="http://schemas.openxmlformats.org/officeDocument/2006/relationships/tags" Target="../tags/tag76.xml"/><Relationship Id="rId6" Type="http://schemas.openxmlformats.org/officeDocument/2006/relationships/tags" Target="../tags/tag75.xml"/><Relationship Id="rId5" Type="http://schemas.openxmlformats.org/officeDocument/2006/relationships/tags" Target="../tags/tag74.xml"/><Relationship Id="rId4" Type="http://schemas.openxmlformats.org/officeDocument/2006/relationships/tags" Target="../tags/tag73.xml"/><Relationship Id="rId3" Type="http://schemas.openxmlformats.org/officeDocument/2006/relationships/tags" Target="../tags/tag72.xml"/><Relationship Id="rId2" Type="http://schemas.openxmlformats.org/officeDocument/2006/relationships/tags" Target="../tags/tag71.xml"/><Relationship Id="rId18" Type="http://schemas.openxmlformats.org/officeDocument/2006/relationships/slideLayout" Target="../slideLayouts/slideLayout15.xml"/><Relationship Id="rId17" Type="http://schemas.openxmlformats.org/officeDocument/2006/relationships/tags" Target="../tags/tag86.xml"/><Relationship Id="rId16" Type="http://schemas.openxmlformats.org/officeDocument/2006/relationships/tags" Target="../tags/tag85.xml"/><Relationship Id="rId15" Type="http://schemas.openxmlformats.org/officeDocument/2006/relationships/tags" Target="../tags/tag84.xml"/><Relationship Id="rId14" Type="http://schemas.openxmlformats.org/officeDocument/2006/relationships/tags" Target="../tags/tag83.xml"/><Relationship Id="rId13" Type="http://schemas.openxmlformats.org/officeDocument/2006/relationships/tags" Target="../tags/tag82.xml"/><Relationship Id="rId12" Type="http://schemas.openxmlformats.org/officeDocument/2006/relationships/tags" Target="../tags/tag81.xml"/><Relationship Id="rId11" Type="http://schemas.openxmlformats.org/officeDocument/2006/relationships/tags" Target="../tags/tag80.xml"/><Relationship Id="rId10" Type="http://schemas.openxmlformats.org/officeDocument/2006/relationships/tags" Target="../tags/tag79.xml"/><Relationship Id="rId1" Type="http://schemas.openxmlformats.org/officeDocument/2006/relationships/tags" Target="../tags/tag70.xml"/></Relationships>
</file>

<file path=ppt/slides/_rels/slide2.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 Type="http://schemas.openxmlformats.org/officeDocument/2006/relationships/tags" Target="../tags/tag89.xml"/><Relationship Id="rId2" Type="http://schemas.openxmlformats.org/officeDocument/2006/relationships/tags" Target="../tags/tag88.xml"/><Relationship Id="rId12" Type="http://schemas.openxmlformats.org/officeDocument/2006/relationships/notesSlide" Target="../notesSlides/notesSlide1.xml"/><Relationship Id="rId11" Type="http://schemas.openxmlformats.org/officeDocument/2006/relationships/slideLayout" Target="../slideLayouts/slideLayout15.xml"/><Relationship Id="rId10" Type="http://schemas.openxmlformats.org/officeDocument/2006/relationships/tags" Target="../tags/tag96.xml"/><Relationship Id="rId1" Type="http://schemas.openxmlformats.org/officeDocument/2006/relationships/tags" Target="../tags/tag8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5.xml"/><Relationship Id="rId3" Type="http://schemas.openxmlformats.org/officeDocument/2006/relationships/tags" Target="../tags/tag99.xml"/><Relationship Id="rId2" Type="http://schemas.openxmlformats.org/officeDocument/2006/relationships/tags" Target="../tags/tag98.xml"/><Relationship Id="rId1" Type="http://schemas.openxmlformats.org/officeDocument/2006/relationships/tags" Target="../tags/tag9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9" Type="http://schemas.openxmlformats.org/officeDocument/2006/relationships/tags" Target="../tags/tag108.xml"/><Relationship Id="rId8" Type="http://schemas.openxmlformats.org/officeDocument/2006/relationships/tags" Target="../tags/tag107.xml"/><Relationship Id="rId7" Type="http://schemas.openxmlformats.org/officeDocument/2006/relationships/tags" Target="../tags/tag106.xml"/><Relationship Id="rId6" Type="http://schemas.openxmlformats.org/officeDocument/2006/relationships/tags" Target="../tags/tag105.xml"/><Relationship Id="rId5" Type="http://schemas.openxmlformats.org/officeDocument/2006/relationships/tags" Target="../tags/tag104.xml"/><Relationship Id="rId4" Type="http://schemas.openxmlformats.org/officeDocument/2006/relationships/tags" Target="../tags/tag103.xml"/><Relationship Id="rId3" Type="http://schemas.openxmlformats.org/officeDocument/2006/relationships/tags" Target="../tags/tag102.xml"/><Relationship Id="rId2" Type="http://schemas.openxmlformats.org/officeDocument/2006/relationships/tags" Target="../tags/tag101.xml"/><Relationship Id="rId18" Type="http://schemas.openxmlformats.org/officeDocument/2006/relationships/slideLayout" Target="../slideLayouts/slideLayout15.xml"/><Relationship Id="rId17" Type="http://schemas.openxmlformats.org/officeDocument/2006/relationships/tags" Target="../tags/tag116.xml"/><Relationship Id="rId16" Type="http://schemas.openxmlformats.org/officeDocument/2006/relationships/tags" Target="../tags/tag115.xml"/><Relationship Id="rId15" Type="http://schemas.openxmlformats.org/officeDocument/2006/relationships/tags" Target="../tags/tag114.xml"/><Relationship Id="rId14" Type="http://schemas.openxmlformats.org/officeDocument/2006/relationships/tags" Target="../tags/tag113.xml"/><Relationship Id="rId13" Type="http://schemas.openxmlformats.org/officeDocument/2006/relationships/tags" Target="../tags/tag112.xml"/><Relationship Id="rId12" Type="http://schemas.openxmlformats.org/officeDocument/2006/relationships/tags" Target="../tags/tag111.xml"/><Relationship Id="rId11" Type="http://schemas.openxmlformats.org/officeDocument/2006/relationships/tags" Target="../tags/tag110.xml"/><Relationship Id="rId10" Type="http://schemas.openxmlformats.org/officeDocument/2006/relationships/tags" Target="../tags/tag109.xml"/><Relationship Id="rId1" Type="http://schemas.openxmlformats.org/officeDocument/2006/relationships/tags" Target="../tags/tag100.xml"/></Relationships>
</file>

<file path=ppt/slides/_rels/slide7.xml.rels><?xml version="1.0" encoding="UTF-8" standalone="yes"?>
<Relationships xmlns="http://schemas.openxmlformats.org/package/2006/relationships"><Relationship Id="rId6" Type="http://schemas.openxmlformats.org/officeDocument/2006/relationships/notesSlide" Target="../notesSlides/notesSlide5.xml"/><Relationship Id="rId5" Type="http://schemas.openxmlformats.org/officeDocument/2006/relationships/slideLayout" Target="../slideLayouts/slideLayout15.xml"/><Relationship Id="rId4" Type="http://schemas.openxmlformats.org/officeDocument/2006/relationships/tags" Target="../tags/tag120.xml"/><Relationship Id="rId3" Type="http://schemas.openxmlformats.org/officeDocument/2006/relationships/tags" Target="../tags/tag119.xml"/><Relationship Id="rId2" Type="http://schemas.openxmlformats.org/officeDocument/2006/relationships/tags" Target="../tags/tag118.xml"/><Relationship Id="rId1" Type="http://schemas.openxmlformats.org/officeDocument/2006/relationships/tags" Target="../tags/tag117.xml"/></Relationships>
</file>

<file path=ppt/slides/_rels/slide8.xml.rels><?xml version="1.0" encoding="UTF-8" standalone="yes"?>
<Relationships xmlns="http://schemas.openxmlformats.org/package/2006/relationships"><Relationship Id="rId9" Type="http://schemas.openxmlformats.org/officeDocument/2006/relationships/tags" Target="../tags/tag129.xml"/><Relationship Id="rId8" Type="http://schemas.openxmlformats.org/officeDocument/2006/relationships/tags" Target="../tags/tag128.xml"/><Relationship Id="rId7" Type="http://schemas.openxmlformats.org/officeDocument/2006/relationships/tags" Target="../tags/tag127.xml"/><Relationship Id="rId6" Type="http://schemas.openxmlformats.org/officeDocument/2006/relationships/tags" Target="../tags/tag126.xml"/><Relationship Id="rId5" Type="http://schemas.openxmlformats.org/officeDocument/2006/relationships/tags" Target="../tags/tag125.xml"/><Relationship Id="rId4" Type="http://schemas.openxmlformats.org/officeDocument/2006/relationships/tags" Target="../tags/tag124.xml"/><Relationship Id="rId3" Type="http://schemas.openxmlformats.org/officeDocument/2006/relationships/tags" Target="../tags/tag123.xml"/><Relationship Id="rId2" Type="http://schemas.openxmlformats.org/officeDocument/2006/relationships/tags" Target="../tags/tag122.xml"/><Relationship Id="rId12" Type="http://schemas.openxmlformats.org/officeDocument/2006/relationships/notesSlide" Target="../notesSlides/notesSlide6.xml"/><Relationship Id="rId11" Type="http://schemas.openxmlformats.org/officeDocument/2006/relationships/slideLayout" Target="../slideLayouts/slideLayout15.xml"/><Relationship Id="rId10" Type="http://schemas.openxmlformats.org/officeDocument/2006/relationships/tags" Target="../tags/tag130.xml"/><Relationship Id="rId1" Type="http://schemas.openxmlformats.org/officeDocument/2006/relationships/tags" Target="../tags/tag12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5.xml"/><Relationship Id="rId3" Type="http://schemas.openxmlformats.org/officeDocument/2006/relationships/tags" Target="../tags/tag133.xml"/><Relationship Id="rId2" Type="http://schemas.openxmlformats.org/officeDocument/2006/relationships/tags" Target="../tags/tag132.xml"/><Relationship Id="rId1" Type="http://schemas.openxmlformats.org/officeDocument/2006/relationships/tags" Target="../tags/tag13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5.xml"/><Relationship Id="rId4" Type="http://schemas.openxmlformats.org/officeDocument/2006/relationships/tags" Target="../tags/tag137.xml"/><Relationship Id="rId3" Type="http://schemas.openxmlformats.org/officeDocument/2006/relationships/tags" Target="../tags/tag136.xml"/><Relationship Id="rId2" Type="http://schemas.openxmlformats.org/officeDocument/2006/relationships/tags" Target="../tags/tag135.xml"/><Relationship Id="rId1" Type="http://schemas.openxmlformats.org/officeDocument/2006/relationships/tags" Target="../tags/tag134.xml"/></Relationships>
</file>

<file path=ppt/slides/_rels/slide13.xml.rels><?xml version="1.0" encoding="UTF-8" standalone="yes"?>
<Relationships xmlns="http://schemas.openxmlformats.org/package/2006/relationships"><Relationship Id="rId9" Type="http://schemas.openxmlformats.org/officeDocument/2006/relationships/tags" Target="../tags/tag146.xml"/><Relationship Id="rId8" Type="http://schemas.openxmlformats.org/officeDocument/2006/relationships/tags" Target="../tags/tag145.xml"/><Relationship Id="rId7" Type="http://schemas.openxmlformats.org/officeDocument/2006/relationships/tags" Target="../tags/tag144.xml"/><Relationship Id="rId6" Type="http://schemas.openxmlformats.org/officeDocument/2006/relationships/tags" Target="../tags/tag143.xml"/><Relationship Id="rId5" Type="http://schemas.openxmlformats.org/officeDocument/2006/relationships/tags" Target="../tags/tag142.xml"/><Relationship Id="rId4" Type="http://schemas.openxmlformats.org/officeDocument/2006/relationships/tags" Target="../tags/tag141.xml"/><Relationship Id="rId3" Type="http://schemas.openxmlformats.org/officeDocument/2006/relationships/tags" Target="../tags/tag140.xml"/><Relationship Id="rId2" Type="http://schemas.openxmlformats.org/officeDocument/2006/relationships/tags" Target="../tags/tag139.xml"/><Relationship Id="rId18" Type="http://schemas.openxmlformats.org/officeDocument/2006/relationships/slideLayout" Target="../slideLayouts/slideLayout15.xml"/><Relationship Id="rId17" Type="http://schemas.openxmlformats.org/officeDocument/2006/relationships/tags" Target="../tags/tag154.xml"/><Relationship Id="rId16" Type="http://schemas.openxmlformats.org/officeDocument/2006/relationships/tags" Target="../tags/tag153.xml"/><Relationship Id="rId15" Type="http://schemas.openxmlformats.org/officeDocument/2006/relationships/tags" Target="../tags/tag152.xml"/><Relationship Id="rId14" Type="http://schemas.openxmlformats.org/officeDocument/2006/relationships/tags" Target="../tags/tag151.xml"/><Relationship Id="rId13" Type="http://schemas.openxmlformats.org/officeDocument/2006/relationships/tags" Target="../tags/tag150.xml"/><Relationship Id="rId12" Type="http://schemas.openxmlformats.org/officeDocument/2006/relationships/tags" Target="../tags/tag149.xml"/><Relationship Id="rId11" Type="http://schemas.openxmlformats.org/officeDocument/2006/relationships/tags" Target="../tags/tag148.xml"/><Relationship Id="rId10" Type="http://schemas.openxmlformats.org/officeDocument/2006/relationships/tags" Target="../tags/tag147.xml"/><Relationship Id="rId1" Type="http://schemas.openxmlformats.org/officeDocument/2006/relationships/tags" Target="../tags/tag138.xml"/></Relationships>
</file>

<file path=ppt/slides/_rels/slide14.xml.rels><?xml version="1.0" encoding="UTF-8" standalone="yes"?>
<Relationships xmlns="http://schemas.openxmlformats.org/package/2006/relationships"><Relationship Id="rId9" Type="http://schemas.openxmlformats.org/officeDocument/2006/relationships/tags" Target="../tags/tag163.xml"/><Relationship Id="rId8" Type="http://schemas.openxmlformats.org/officeDocument/2006/relationships/tags" Target="../tags/tag162.xml"/><Relationship Id="rId7" Type="http://schemas.openxmlformats.org/officeDocument/2006/relationships/tags" Target="../tags/tag161.xml"/><Relationship Id="rId6" Type="http://schemas.openxmlformats.org/officeDocument/2006/relationships/tags" Target="../tags/tag160.xml"/><Relationship Id="rId5" Type="http://schemas.openxmlformats.org/officeDocument/2006/relationships/tags" Target="../tags/tag159.xml"/><Relationship Id="rId4" Type="http://schemas.openxmlformats.org/officeDocument/2006/relationships/tags" Target="../tags/tag158.xml"/><Relationship Id="rId3" Type="http://schemas.openxmlformats.org/officeDocument/2006/relationships/tags" Target="../tags/tag157.xml"/><Relationship Id="rId2" Type="http://schemas.openxmlformats.org/officeDocument/2006/relationships/tags" Target="../tags/tag156.xml"/><Relationship Id="rId12" Type="http://schemas.openxmlformats.org/officeDocument/2006/relationships/notesSlide" Target="../notesSlides/notesSlide11.xml"/><Relationship Id="rId11" Type="http://schemas.openxmlformats.org/officeDocument/2006/relationships/slideLayout" Target="../slideLayouts/slideLayout15.xml"/><Relationship Id="rId10" Type="http://schemas.openxmlformats.org/officeDocument/2006/relationships/tags" Target="../tags/tag164.xml"/><Relationship Id="rId1" Type="http://schemas.openxmlformats.org/officeDocument/2006/relationships/tags" Target="../tags/tag15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5.xml"/><Relationship Id="rId3" Type="http://schemas.openxmlformats.org/officeDocument/2006/relationships/tags" Target="../tags/tag167.xml"/><Relationship Id="rId2" Type="http://schemas.openxmlformats.org/officeDocument/2006/relationships/tags" Target="../tags/tag166.xml"/><Relationship Id="rId1" Type="http://schemas.openxmlformats.org/officeDocument/2006/relationships/tags" Target="../tags/tag16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5.xml"/><Relationship Id="rId5" Type="http://schemas.openxmlformats.org/officeDocument/2006/relationships/slideLayout" Target="../slideLayouts/slideLayout15.xml"/><Relationship Id="rId4" Type="http://schemas.openxmlformats.org/officeDocument/2006/relationships/tags" Target="../tags/tag171.xml"/><Relationship Id="rId3" Type="http://schemas.openxmlformats.org/officeDocument/2006/relationships/tags" Target="../tags/tag170.xml"/><Relationship Id="rId2" Type="http://schemas.openxmlformats.org/officeDocument/2006/relationships/tags" Target="../tags/tag169.xml"/><Relationship Id="rId1" Type="http://schemas.openxmlformats.org/officeDocument/2006/relationships/tags" Target="../tags/tag1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dirty="0" smtClean="0">
                <a:solidFill>
                  <a:schemeClr val="tx1"/>
                </a:solidFill>
                <a:latin typeface="微软雅黑" panose="020B0503020204020204" pitchFamily="34" charset="-122"/>
                <a:ea typeface="微软雅黑" panose="020B0503020204020204" pitchFamily="34" charset="-122"/>
                <a:sym typeface="+mn-ea"/>
              </a:rPr>
              <a:t>RAGFlow</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平台初识</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9563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智能体的概念</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832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dirty="0" smtClean="0">
                <a:solidFill>
                  <a:schemeClr val="tx1"/>
                </a:solidFill>
                <a:latin typeface="微软雅黑" panose="020B0503020204020204" pitchFamily="34" charset="-122"/>
                <a:ea typeface="微软雅黑" panose="020B0503020204020204" pitchFamily="34" charset="-122"/>
                <a:sym typeface="+mn-ea"/>
              </a:rPr>
              <a:t>RAGFlow</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搭建简易工作流</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工作流与智能体代表了两种截然不同的任务执行逻辑。工作流是一系列由开发者预先设定好顺序的固定步骤，其核心特点是流程稳定、结果可预测、执行路径清晰。它就像一列必须在轨道上行驶的火车，所有环节都按照既定方案运行，一旦某个环节出错，整个流程往往就会卡死。因此，工作流非常适合处理标准化、重复性高、规则明确的任务，例如表单审批、数据批量处理等。</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智能体则以大语言模型为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大脑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具备理解目标、规划步骤、调用工具、并结合上下文进行动态决策的能力。它不遵循固定路径，而是在目标驱动下自主进行推理和选择，如同一位根据路况实时调整方向的赛车手。智能体能够处理模糊需求，并在执行过程中根据反馈灵活调整策略；即使遇到错误，它也能通过</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反思</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能力尝试不同的解决方案。因此，智能体更适合处理复杂、开放、信息不完整的任务，例如客户服务、自动化研究等。从执行逻辑、灵活性、控制权、容错率和任务复杂度等多个维度来看，工作流与智能体存在本质区别：前者强调确定性预设，后者依赖动态生成；前者人类完全控制，后者由</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自主决策。</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关于智能体的定义，业界最权威的框架主要来自</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OpenAI</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Lilian Weng</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和吴恩达。</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Lilian Weng</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提出了经典的</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“LLM + P.M.T”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模型，认为智能体由四大核心组件构成：作为大脑的大语言模型负责逻辑推理与意图识别；规划模块将复杂任务拆解为可管理的子目标，并对过去行为进行自我批评与反思；记忆模块分为短期记忆（利用模型上下文窗口记录对话历史）和长期记忆（通过外部向量数据库检索信息）；工具使用模块则让智能体通过调用外部</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API</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获取实时信息、执行计算或操作软件。这四者协同，使智能体能够自主完成复杂任务。</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吴恩达则强调，与其追求一次性完美输出，不如通过智能体工作流迭代提升表现。他总结了四种核心设计模式：反思，即智能体检查自身工作并自行修复错误；使用工具，强调智能体根据环境判断何时调用何种工具；规划，指自主决定步骤序列并动态调整；多智能体协作，让不同角色的智能体通过对话分工完成任务。从更广泛的认知神经科学视角看，智能体被定义为具备</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感知</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推理</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行动</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循环的实体：感知将非结构化数据转化为可理解表示，推理基于目标和环境选择最优策略，行动则改变环境状态。综合这些定义，智能体的核心能力可归纳为五大模块：大脑（逻辑推理与意图识别）、记忆（短期缓存与长期检索）、规划（任务拆解与自我纠错）、工具（</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API</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调用与代码执行）以及执行（将思考转化为实际影响）。这五大能力共同构成了智能体系统的核心支柱，理解这一共性，是掌握智能体开发的第一步。</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RAGFlow</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平台初识</a:t>
            </a:r>
            <a:endParaRPr lang="zh-CN" altLang="en-US"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89112"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智能体的概念</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6800" y="521144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dirty="0" smtClean="0">
                <a:solidFill>
                  <a:schemeClr val="tx1"/>
                </a:solidFill>
                <a:latin typeface="微软雅黑" panose="020B0503020204020204" pitchFamily="34" charset="-122"/>
                <a:ea typeface="微软雅黑" panose="020B0503020204020204" pitchFamily="34" charset="-122"/>
                <a:sym typeface="+mn-ea"/>
              </a:rPr>
              <a:t>RAGFlow</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平台初识</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等低代码平台出现之前，开发者构建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AI</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应用主要依赖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LangChain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这类编程框架。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LangChain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是一个模块化的开发者工具包，它要求使用者具备</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Python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JavaScript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编程经验，学习曲线较为陡峭。虽然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LangChain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逻辑上并不复杂，但它更适合那些需要深度定制和应对复杂场景的开发场景。例如，为了实现一个最小对话智能体工作流，开发者需要编写大量代码来编排各个组件，这对于初学者而言非常不友好，且后续的迭代开发过程也显得较为繁琐。</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LangChain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形成鲜明对比的是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，它提供了一种全新的开发范式。</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通过低代码的拖拽界面和可视化工作流设计，极大地降低了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AI</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应用开发的门槛。两者的本质区别在于：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LangChain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是通过编写代码来编排智能体，而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则是通过拖拽节点的方式编排工作流，并在工作流中嵌入智能体或大模型来完成开发。对于初学者来说，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的可视化方式能让人更直观地理解智能体工作流的逻辑结构，从而避免被复杂的代码细节所干扰，更适合快速原型验证和企业级快速部署。</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工作流是一种将一系列任务或操作按照既定顺序和规则自动化执行的方法。在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中，编辑智能体工作流的核心在于连接不同的节点，利用大语言模型的能力来实现复杂任务的自动化处理。这些节点涵盖了数据输入、处理、输出等多个环节，用户可以根据自身需求自由组合和配置，从而构建出对话、搜索、</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管理以及智能体等多种功能。</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工作流具备三大显著特点。首先是可视化编辑，它提供了直观的编辑器，用户只需通过拖拽节点和连线即可轻松构建工作流。其次是灵活性，系统支持多种节点类型，包括大语言模型节点、知识库检索节点和条件判断节点等，用户可以根据具体需求自由组合与配置。最后是开放性，</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支持调用多种大语言模型</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API</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，如</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DeepSeek</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GPT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Ollama</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等，用户能根据任务选择合适的模型。同时，它也支持私有化部署，有效保障用户的数据安全。</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中，智能体菜单下包含工作流和对话流两种应用类型。两者的主要区别在于：工作流面向单轮自动化编排任务，而对话流则将记忆内置为上下文变量，从而支持多轮对话。尽管应用场景不同，但构建这两种工作流应用的步骤是基本一致的。</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构建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工作流通常包含五个关键步骤。首先是在平台上创建一个新的应用，并选择工作流类型。接着，使用可视化工作流编辑器，通过拖拽节点和连线来设计工作流的整体结构。然后，对每个节点进行详细配置，包括设置输入参数、输出参数以及选择模型等。配置完成后，需要在平台上测试工作流的运行情况，确保每个节点都能正确执行。最后，测试通过后，将工作流发布到生产环境，实现自动化处理。通过这一系列步骤，学员可以以较低的门槛完成从设计搭建到调试发布的完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AI</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应用平台建设。</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任意多边形 44"/>
          <p:cNvSpPr/>
          <p:nvPr>
            <p:custDataLst>
              <p:tags r:id="rId1"/>
            </p:custDataLst>
          </p:nvPr>
        </p:nvSpPr>
        <p:spPr>
          <a:xfrm flipV="1">
            <a:off x="5382794" y="3951605"/>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nvGrpSpPr>
          <p:cNvPr id="7" name="组合 6"/>
          <p:cNvGrpSpPr/>
          <p:nvPr>
            <p:custDataLst>
              <p:tags r:id="rId2"/>
            </p:custDataLst>
          </p:nvPr>
        </p:nvGrpSpPr>
        <p:grpSpPr>
          <a:xfrm>
            <a:off x="5236109" y="2458720"/>
            <a:ext cx="1892300" cy="1892300"/>
            <a:chOff x="4536" y="4280"/>
            <a:chExt cx="2980" cy="2980"/>
          </a:xfrm>
        </p:grpSpPr>
        <p:sp>
          <p:nvSpPr>
            <p:cNvPr id="12"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6" name="圆角矩形 38"/>
            <p:cNvSpPr/>
            <p:nvPr>
              <p:custDataLst>
                <p:tags r:id="rId4"/>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52" name="文本框1"/>
          <p:cNvSpPr txBox="1"/>
          <p:nvPr>
            <p:custDataLst>
              <p:tags r:id="rId5"/>
            </p:custDataLst>
          </p:nvPr>
        </p:nvSpPr>
        <p:spPr>
          <a:xfrm>
            <a:off x="4388270" y="513778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dirty="0" smtClean="0">
                <a:solidFill>
                  <a:schemeClr val="tx1"/>
                </a:solidFill>
                <a:latin typeface="微软雅黑" panose="020B0503020204020204" pitchFamily="34" charset="-122"/>
                <a:ea typeface="微软雅黑" panose="020B0503020204020204" pitchFamily="34" charset="-122"/>
                <a:sym typeface="+mn-ea"/>
              </a:rPr>
              <a:t>RAGFlow</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平台初识</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10" name="文本框 9"/>
          <p:cNvSpPr txBox="1"/>
          <p:nvPr>
            <p:custDataLst>
              <p:tags r:id="rId6"/>
            </p:custDataLst>
          </p:nvPr>
        </p:nvSpPr>
        <p:spPr>
          <a:xfrm>
            <a:off x="5826024" y="2936875"/>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sym typeface="+mn-ea"/>
              </a:rPr>
              <a:t>03</a:t>
            </a:r>
            <a:endParaRPr lang="en-US" altLang="zh-CN" sz="3200" dirty="0" smtClean="0">
              <a:solidFill>
                <a:srgbClr val="3F396C"/>
              </a:solidFill>
              <a:latin typeface="思源宋体" panose="02020700000000000000" charset="-122"/>
              <a:ea typeface="思源宋体" panose="02020700000000000000" charset="-122"/>
              <a:sym typeface="+mn-ea"/>
            </a:endParaRPr>
          </a:p>
        </p:txBody>
      </p:sp>
      <p:sp>
        <p:nvSpPr>
          <p:cNvPr id="8" name="文本框1"/>
          <p:cNvSpPr txBox="1"/>
          <p:nvPr>
            <p:custDataLst>
              <p:tags r:id="rId7"/>
            </p:custDataLst>
          </p:nvPr>
        </p:nvSpPr>
        <p:spPr>
          <a:xfrm>
            <a:off x="594000" y="516699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智能体的概念</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8"/>
            </p:custDataLst>
          </p:nvPr>
        </p:nvGrpSpPr>
        <p:grpSpPr>
          <a:xfrm>
            <a:off x="1443301" y="1852930"/>
            <a:ext cx="2087245" cy="2570480"/>
            <a:chOff x="4536" y="3212"/>
            <a:chExt cx="3287" cy="4048"/>
          </a:xfrm>
        </p:grpSpPr>
        <p:sp>
          <p:nvSpPr>
            <p:cNvPr id="3" name="圆角矩形 34"/>
            <p:cNvSpPr/>
            <p:nvPr>
              <p:custDataLst>
                <p:tags r:id="rId9"/>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10"/>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11"/>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12"/>
            </p:custDataLst>
          </p:nvPr>
        </p:nvSpPr>
        <p:spPr>
          <a:xfrm>
            <a:off x="2033216" y="3001645"/>
            <a:ext cx="682625"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5" name="文本框1"/>
          <p:cNvSpPr txBox="1"/>
          <p:nvPr>
            <p:custDataLst>
              <p:tags r:id="rId13"/>
            </p:custDataLst>
          </p:nvPr>
        </p:nvSpPr>
        <p:spPr>
          <a:xfrm>
            <a:off x="8146800" y="5168265"/>
            <a:ext cx="36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RAGFlow</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平台初识</a:t>
            </a:r>
            <a:endParaRPr lang="zh-CN" altLang="en-US"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1" name="圆角矩形 34"/>
          <p:cNvSpPr/>
          <p:nvPr>
            <p:custDataLst>
              <p:tags r:id="rId14"/>
            </p:custDataLst>
          </p:nvPr>
        </p:nvSpPr>
        <p:spPr>
          <a:xfrm rot="2700000">
            <a:off x="8998585" y="2482850"/>
            <a:ext cx="1892300" cy="189230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3" name="圆角矩形 38"/>
          <p:cNvSpPr/>
          <p:nvPr>
            <p:custDataLst>
              <p:tags r:id="rId15"/>
            </p:custDataLst>
          </p:nvPr>
        </p:nvSpPr>
        <p:spPr>
          <a:xfrm rot="2700000">
            <a:off x="9251214" y="2748280"/>
            <a:ext cx="1387475" cy="138747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4" name="文本框 13"/>
          <p:cNvSpPr txBox="1"/>
          <p:nvPr>
            <p:custDataLst>
              <p:tags r:id="rId16"/>
            </p:custDataLst>
          </p:nvPr>
        </p:nvSpPr>
        <p:spPr>
          <a:xfrm>
            <a:off x="9603004" y="2908935"/>
            <a:ext cx="682625" cy="1014730"/>
          </a:xfrm>
          <a:prstGeom prst="rect">
            <a:avLst/>
          </a:prstGeom>
          <a:noFill/>
        </p:spPr>
        <p:txBody>
          <a:bodyPr wrap="square" rtlCol="0">
            <a:spAutoFit/>
          </a:bodyPr>
          <a:lstStyle/>
          <a:p>
            <a:r>
              <a:rPr lang="en-US" altLang="zh-CN" sz="6000" b="1">
                <a:solidFill>
                  <a:schemeClr val="bg1"/>
                </a:solidFill>
                <a:latin typeface="+mj-ea"/>
                <a:ea typeface="+mj-ea"/>
              </a:rPr>
              <a:t>3</a:t>
            </a:r>
            <a:endParaRPr lang="en-US" altLang="zh-CN" sz="6000" b="1">
              <a:solidFill>
                <a:schemeClr val="bg1"/>
              </a:solidFill>
              <a:latin typeface="+mj-ea"/>
              <a:ea typeface="+mj-ea"/>
            </a:endParaRPr>
          </a:p>
        </p:txBody>
      </p:sp>
      <p:sp>
        <p:nvSpPr>
          <p:cNvPr id="15" name="任意多边形 42"/>
          <p:cNvSpPr/>
          <p:nvPr>
            <p:custDataLst>
              <p:tags r:id="rId17"/>
            </p:custDataLst>
          </p:nvPr>
        </p:nvSpPr>
        <p:spPr>
          <a:xfrm>
            <a:off x="9143311" y="1760220"/>
            <a:ext cx="1940560" cy="114871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一个简易问答型智能体工作流，至少包含四个环节：用户输入、约束引导、模型推理和人工评判。这四个环节构成了一个最小可运行的智能体工作流，其本质是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用户输入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约束引导</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模型推理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人工评判</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闭环。虽然结构简单，但它已经具备了智能体工作流的两个核心要素。第一个核心要素是确定性框架，即通过系统提示词为模型划定行为边界，避免模型输出失控；第二个核心要素是人工闭环，人类在最后环节进行价值判断，承担</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评估者</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的角色，确保输出结果符合预期。</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实际开发中，可以从这个最小结构出发，逐步增加节点来扩展功能。例如，可以加入意图识别分支，让工作流根据用户的不同意图走不同的处理路径；也可以加入知识库检索节点，让模型能够引用外部知识；还可以加入代码计算节点，实现数学运算或数据处理。通过这种由简入繁、迭代优化的思路，最小工作流可以逐步演化为完整的工作流或智能体。这种工程化落地的方法论，强调从简单原型开始，不断迭代完善，是构建复杂系统的有效路径。</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基于上一节提出的</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用户输入</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系统提示词约束</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模型生成</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人工评估</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最小可运行结构，在</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中搭建这一流程只需用到三个核心组件：开始节点、大语言模型节点和输出节点。开始节点是所有工作流的入口，在</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可视化工作流设计器中，每个工作流都以开始节点为起点。该节点负责接收用户的输入数据，用户的问题将通过这个节点传入后续节点。开始节点提供了三种启动方式和交互模式：对话模式、任务模式和网络钩子模式，分别对应不同的使用场景。</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对话模式是最常用的模式，适用于构建交互式智能体。它的工作逻辑是双向、实时、有上下文的，用户说一句话，智能体回一句话。输入内容主要是用户的提问，该模式能处理聊天记录，让智能体记住对话上下文，通常直接对接对话框界面。典型使用场景包括企业内部客服机器人、个人知识库助手和角色扮演机器人。任务模式则是批处理或自动化模式，通常是单次执行、流程导向的自动化处理。它接收一个特定的输入，按照设计的逻辑跑完整个流程后给出一个结果，不强调来回对话，而是强调完成任务。输入内容通常是结构化的数据或参数，不关心历史聊天记录，适合处理大批量的重复性逻辑，如文档自动化处理和定时报表生成。</a:t>
            </a:r>
            <a:endParaRPr lang="zh-CN"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网络钩子模式是为自动化系统准备的接口模式，让</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能够被其他软件调用。其工作逻辑是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会生成一个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URL</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地址，每当外部系统向这个地址发送一个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HTTP</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请求时，工作流就会启动。输入内容由外部系统传过来的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JSON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数据包，用户可以自定义解析这些数据。这种模式是被动触发的，智能体在后台静静等待，直到接收到外部信号，它是打破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与其他软件之间壁垒的桥梁。典型使用场景包括联动钉钉或微信，当用户在群里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机器人时，外部服务器发一个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Webhook</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给</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，处理完后再回传；以及自动化流水线，比如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GitHub</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有代码更新时，触发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Webhook</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让</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自动读取新代码并更新技术文档知识库。大语言模型节点是整个工作流的大脑，在该节点中需要完成三件事：选择要使用的大模型，配置系统提示词对模型的角色和行为进行约束，以及调整模型参数控制输出的确定性与多样性。对于最小工作流，只需要配置好系统提示词，并将开始节点传入的用户问题作为上下文变量输入到</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节点即可。输出节点负责输出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节点生成的最终回答，在简单问答工作流中，通常只需要将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节点的输出直接连接到结束节点，工作流执行完毕后返回结果。</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DIAGRAM_VIRTUALLY_FRAME" val="{&quot;height&quot;:333.6,&quot;left&quot;:18.55,&quot;top&quot;:138.6,&quot;width&quot;:957.2494488188977}"/>
</p:tagLst>
</file>

<file path=ppt/tags/tag71.xml><?xml version="1.0" encoding="utf-8"?>
<p:tagLst xmlns:p="http://schemas.openxmlformats.org/presentationml/2006/main">
  <p:tag name="KSO_WM_DIAGRAM_VIRTUALLY_FRAME" val="{&quot;height&quot;:333.6,&quot;left&quot;:18.55,&quot;top&quot;:138.6,&quot;width&quot;:957.2494488188977}"/>
</p:tagLst>
</file>

<file path=ppt/tags/tag72.xml><?xml version="1.0" encoding="utf-8"?>
<p:tagLst xmlns:p="http://schemas.openxmlformats.org/presentationml/2006/main">
  <p:tag name="KSO_WM_DIAGRAM_VIRTUALLY_FRAME" val="{&quot;height&quot;:333.6,&quot;left&quot;:18.55,&quot;top&quot;:138.6,&quot;width&quot;:957.2494488188977}"/>
</p:tagLst>
</file>

<file path=ppt/tags/tag73.xml><?xml version="1.0" encoding="utf-8"?>
<p:tagLst xmlns:p="http://schemas.openxmlformats.org/presentationml/2006/main">
  <p:tag name="KSO_WM_DIAGRAM_VIRTUALLY_FRAME" val="{&quot;height&quot;:333.6,&quot;left&quot;:18.55,&quot;top&quot;:138.6,&quot;width&quot;:957.2494488188977}"/>
</p:tagLst>
</file>

<file path=ppt/tags/tag74.xml><?xml version="1.0" encoding="utf-8"?>
<p:tagLst xmlns:p="http://schemas.openxmlformats.org/presentationml/2006/main">
  <p:tag name="KSO_WM_DIAGRAM_VIRTUALLY_FRAME" val="{&quot;height&quot;:333.6,&quot;left&quot;:18.55,&quot;top&quot;:138.6,&quot;width&quot;:957.2494488188977}"/>
</p:tagLst>
</file>

<file path=ppt/tags/tag75.xml><?xml version="1.0" encoding="utf-8"?>
<p:tagLst xmlns:p="http://schemas.openxmlformats.org/presentationml/2006/main">
  <p:tag name="KSO_WM_DIAGRAM_VIRTUALLY_FRAME" val="{&quot;height&quot;:333.6,&quot;left&quot;:18.55,&quot;top&quot;:138.6,&quot;width&quot;:957.2494488188977}"/>
</p:tagLst>
</file>

<file path=ppt/tags/tag76.xml><?xml version="1.0" encoding="utf-8"?>
<p:tagLst xmlns:p="http://schemas.openxmlformats.org/presentationml/2006/main">
  <p:tag name="KSO_WM_DIAGRAM_VIRTUALLY_FRAME" val="{&quot;height&quot;:333.6,&quot;left&quot;:18.55,&quot;top&quot;:138.6,&quot;width&quot;:957.2494488188977}"/>
</p:tagLst>
</file>

<file path=ppt/tags/tag77.xml><?xml version="1.0" encoding="utf-8"?>
<p:tagLst xmlns:p="http://schemas.openxmlformats.org/presentationml/2006/main">
  <p:tag name="KSO_WM_DIAGRAM_VIRTUALLY_FRAME" val="{&quot;height&quot;:333.6,&quot;left&quot;:18.55,&quot;top&quot;:138.6,&quot;width&quot;:957.2494488188977}"/>
</p:tagLst>
</file>

<file path=ppt/tags/tag78.xml><?xml version="1.0" encoding="utf-8"?>
<p:tagLst xmlns:p="http://schemas.openxmlformats.org/presentationml/2006/main">
  <p:tag name="KSO_WM_DIAGRAM_VIRTUALLY_FRAME" val="{&quot;height&quot;:333.6,&quot;left&quot;:18.55,&quot;top&quot;:138.6,&quot;width&quot;:957.2494488188977}"/>
</p:tagLst>
</file>

<file path=ppt/tags/tag79.xml><?xml version="1.0" encoding="utf-8"?>
<p:tagLst xmlns:p="http://schemas.openxmlformats.org/presentationml/2006/main">
  <p:tag name="KSO_WM_DIAGRAM_VIRTUALLY_FRAME" val="{&quot;height&quot;:333.6,&quot;left&quot;:18.55,&quot;top&quot;:138.6,&quot;width&quot;:957.2494488188977}"/>
</p:tagLst>
</file>

<file path=ppt/tags/tag80.xml><?xml version="1.0" encoding="utf-8"?>
<p:tagLst xmlns:p="http://schemas.openxmlformats.org/presentationml/2006/main">
  <p:tag name="KSO_WM_DIAGRAM_VIRTUALLY_FRAME" val="{&quot;height&quot;:333.6,&quot;left&quot;:18.55,&quot;top&quot;:138.6,&quot;width&quot;:957.2494488188977}"/>
</p:tagLst>
</file>

<file path=ppt/tags/tag81.xml><?xml version="1.0" encoding="utf-8"?>
<p:tagLst xmlns:p="http://schemas.openxmlformats.org/presentationml/2006/main">
  <p:tag name="KSO_WM_DIAGRAM_VIRTUALLY_FRAME" val="{&quot;height&quot;:333.6,&quot;left&quot;:18.55,&quot;top&quot;:138.6,&quot;width&quot;:957.2494488188977}"/>
</p:tagLst>
</file>

<file path=ppt/tags/tag82.xml><?xml version="1.0" encoding="utf-8"?>
<p:tagLst xmlns:p="http://schemas.openxmlformats.org/presentationml/2006/main">
  <p:tag name="KSO_WM_DIAGRAM_VIRTUALLY_FRAME" val="{&quot;height&quot;:333.6,&quot;left&quot;:18.55,&quot;top&quot;:138.6,&quot;width&quot;:957.2494488188977}"/>
</p:tagLst>
</file>

<file path=ppt/tags/tag83.xml><?xml version="1.0" encoding="utf-8"?>
<p:tagLst xmlns:p="http://schemas.openxmlformats.org/presentationml/2006/main">
  <p:tag name="KSO_WM_DIAGRAM_VIRTUALLY_FRAME" val="{&quot;height&quot;:333.6,&quot;left&quot;:18.55,&quot;top&quot;:138.6,&quot;width&quot;:957.2494488188977}"/>
</p:tagLst>
</file>

<file path=ppt/tags/tag84.xml><?xml version="1.0" encoding="utf-8"?>
<p:tagLst xmlns:p="http://schemas.openxmlformats.org/presentationml/2006/main">
  <p:tag name="KSO_WM_DIAGRAM_VIRTUALLY_FRAME" val="{&quot;height&quot;:333.6,&quot;left&quot;:18.55,&quot;top&quot;:138.6,&quot;width&quot;:957.2494488188977}"/>
</p:tagLst>
</file>

<file path=ppt/tags/tag85.xml><?xml version="1.0" encoding="utf-8"?>
<p:tagLst xmlns:p="http://schemas.openxmlformats.org/presentationml/2006/main">
  <p:tag name="KSO_WM_DIAGRAM_VIRTUALLY_FRAME" val="{&quot;height&quot;:333.6,&quot;left&quot;:18.55,&quot;top&quot;:138.6,&quot;width&quot;:957.2494488188977}"/>
</p:tagLst>
</file>

<file path=ppt/tags/tag86.xml><?xml version="1.0" encoding="utf-8"?>
<p:tagLst xmlns:p="http://schemas.openxmlformats.org/presentationml/2006/main">
  <p:tag name="KSO_WM_DIAGRAM_VIRTUALLY_FRAME" val="{&quot;height&quot;:333.6,&quot;left&quot;:18.55,&quot;top&quot;:138.6,&quot;width&quot;:957.2494488188977}"/>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BEAUTIFY_FLAG" val=""/>
</p:tagLst>
</file>

<file path=ppt/tags/tag90.xml><?xml version="1.0" encoding="utf-8"?>
<p:tagLst xmlns:p="http://schemas.openxmlformats.org/presentationml/2006/main">
  <p:tag name="KSO_WM_BEAUTIFY_FLAG" val=""/>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BEAUTIFY_FLAG" val=""/>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9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99.xml><?xml version="1.0" encoding="utf-8"?>
<p:tagLst xmlns:p="http://schemas.openxmlformats.org/presentationml/2006/main">
  <p:tag name="KSO_WM_BEAUTIFY_FLAG" val=""/>
</p:tagLst>
</file>

<file path=ppt/tags/tag100.xml><?xml version="1.0" encoding="utf-8"?>
<p:tagLst xmlns:p="http://schemas.openxmlformats.org/presentationml/2006/main">
  <p:tag name="KSO_WM_DIAGRAM_VIRTUALLY_FRAME" val="{&quot;height&quot;:312,&quot;left&quot;:46.386771653543285,&quot;top&quot;:138.6,&quot;width&quot;:929.4126771653544}"/>
</p:tagLst>
</file>

<file path=ppt/tags/tag101.xml><?xml version="1.0" encoding="utf-8"?>
<p:tagLst xmlns:p="http://schemas.openxmlformats.org/presentationml/2006/main">
  <p:tag name="KSO_WM_DIAGRAM_VIRTUALLY_FRAME" val="{&quot;height&quot;:312,&quot;left&quot;:46.386771653543285,&quot;top&quot;:138.6,&quot;width&quot;:929.4126771653544}"/>
</p:tagLst>
</file>

<file path=ppt/tags/tag102.xml><?xml version="1.0" encoding="utf-8"?>
<p:tagLst xmlns:p="http://schemas.openxmlformats.org/presentationml/2006/main">
  <p:tag name="KSO_WM_DIAGRAM_VIRTUALLY_FRAME" val="{&quot;height&quot;:312,&quot;left&quot;:46.386771653543285,&quot;top&quot;:138.6,&quot;width&quot;:929.4126771653544}"/>
</p:tagLst>
</file>

<file path=ppt/tags/tag103.xml><?xml version="1.0" encoding="utf-8"?>
<p:tagLst xmlns:p="http://schemas.openxmlformats.org/presentationml/2006/main">
  <p:tag name="KSO_WM_DIAGRAM_VIRTUALLY_FRAME" val="{&quot;height&quot;:312,&quot;left&quot;:46.386771653543285,&quot;top&quot;:138.6,&quot;width&quot;:929.4126771653544}"/>
</p:tagLst>
</file>

<file path=ppt/tags/tag104.xml><?xml version="1.0" encoding="utf-8"?>
<p:tagLst xmlns:p="http://schemas.openxmlformats.org/presentationml/2006/main">
  <p:tag name="KSO_WM_DIAGRAM_VIRTUALLY_FRAME" val="{&quot;height&quot;:312,&quot;left&quot;:46.386771653543285,&quot;top&quot;:138.6,&quot;width&quot;:929.4126771653544}"/>
</p:tagLst>
</file>

<file path=ppt/tags/tag105.xml><?xml version="1.0" encoding="utf-8"?>
<p:tagLst xmlns:p="http://schemas.openxmlformats.org/presentationml/2006/main">
  <p:tag name="KSO_WM_DIAGRAM_VIRTUALLY_FRAME" val="{&quot;height&quot;:312,&quot;left&quot;:46.386771653543285,&quot;top&quot;:138.6,&quot;width&quot;:929.4126771653544}"/>
</p:tagLst>
</file>

<file path=ppt/tags/tag106.xml><?xml version="1.0" encoding="utf-8"?>
<p:tagLst xmlns:p="http://schemas.openxmlformats.org/presentationml/2006/main">
  <p:tag name="KSO_WM_DIAGRAM_VIRTUALLY_FRAME" val="{&quot;height&quot;:312,&quot;left&quot;:46.386771653543285,&quot;top&quot;:138.6,&quot;width&quot;:929.4126771653544}"/>
</p:tagLst>
</file>

<file path=ppt/tags/tag107.xml><?xml version="1.0" encoding="utf-8"?>
<p:tagLst xmlns:p="http://schemas.openxmlformats.org/presentationml/2006/main">
  <p:tag name="KSO_WM_DIAGRAM_VIRTUALLY_FRAME" val="{&quot;height&quot;:312,&quot;left&quot;:46.386771653543285,&quot;top&quot;:138.6,&quot;width&quot;:929.4126771653544}"/>
</p:tagLst>
</file>

<file path=ppt/tags/tag108.xml><?xml version="1.0" encoding="utf-8"?>
<p:tagLst xmlns:p="http://schemas.openxmlformats.org/presentationml/2006/main">
  <p:tag name="KSO_WM_DIAGRAM_VIRTUALLY_FRAME" val="{&quot;height&quot;:312,&quot;left&quot;:46.386771653543285,&quot;top&quot;:138.6,&quot;width&quot;:929.4126771653544}"/>
</p:tagLst>
</file>

<file path=ppt/tags/tag109.xml><?xml version="1.0" encoding="utf-8"?>
<p:tagLst xmlns:p="http://schemas.openxmlformats.org/presentationml/2006/main">
  <p:tag name="KSO_WM_DIAGRAM_VIRTUALLY_FRAME" val="{&quot;height&quot;:312,&quot;left&quot;:46.386771653543285,&quot;top&quot;:138.6,&quot;width&quot;:929.4126771653544}"/>
</p:tagLst>
</file>

<file path=ppt/tags/tag110.xml><?xml version="1.0" encoding="utf-8"?>
<p:tagLst xmlns:p="http://schemas.openxmlformats.org/presentationml/2006/main">
  <p:tag name="KSO_WM_DIAGRAM_VIRTUALLY_FRAME" val="{&quot;height&quot;:312,&quot;left&quot;:46.386771653543285,&quot;top&quot;:138.6,&quot;width&quot;:929.4126771653544}"/>
</p:tagLst>
</file>

<file path=ppt/tags/tag111.xml><?xml version="1.0" encoding="utf-8"?>
<p:tagLst xmlns:p="http://schemas.openxmlformats.org/presentationml/2006/main">
  <p:tag name="KSO_WM_DIAGRAM_VIRTUALLY_FRAME" val="{&quot;height&quot;:312,&quot;left&quot;:46.386771653543285,&quot;top&quot;:138.6,&quot;width&quot;:929.4126771653544}"/>
</p:tagLst>
</file>

<file path=ppt/tags/tag112.xml><?xml version="1.0" encoding="utf-8"?>
<p:tagLst xmlns:p="http://schemas.openxmlformats.org/presentationml/2006/main">
  <p:tag name="KSO_WM_DIAGRAM_VIRTUALLY_FRAME" val="{&quot;height&quot;:312,&quot;left&quot;:46.386771653543285,&quot;top&quot;:138.6,&quot;width&quot;:929.4126771653544}"/>
</p:tagLst>
</file>

<file path=ppt/tags/tag113.xml><?xml version="1.0" encoding="utf-8"?>
<p:tagLst xmlns:p="http://schemas.openxmlformats.org/presentationml/2006/main">
  <p:tag name="KSO_WM_DIAGRAM_VIRTUALLY_FRAME" val="{&quot;height&quot;:312,&quot;left&quot;:46.386771653543285,&quot;top&quot;:138.6,&quot;width&quot;:929.4126771653544}"/>
</p:tagLst>
</file>

<file path=ppt/tags/tag114.xml><?xml version="1.0" encoding="utf-8"?>
<p:tagLst xmlns:p="http://schemas.openxmlformats.org/presentationml/2006/main">
  <p:tag name="KSO_WM_DIAGRAM_VIRTUALLY_FRAME" val="{&quot;height&quot;:312,&quot;left&quot;:46.386771653543285,&quot;top&quot;:138.6,&quot;width&quot;:929.4126771653544}"/>
</p:tagLst>
</file>

<file path=ppt/tags/tag115.xml><?xml version="1.0" encoding="utf-8"?>
<p:tagLst xmlns:p="http://schemas.openxmlformats.org/presentationml/2006/main">
  <p:tag name="KSO_WM_DIAGRAM_VIRTUALLY_FRAME" val="{&quot;height&quot;:312,&quot;left&quot;:46.386771653543285,&quot;top&quot;:138.6,&quot;width&quot;:929.4126771653544}"/>
</p:tagLst>
</file>

<file path=ppt/tags/tag116.xml><?xml version="1.0" encoding="utf-8"?>
<p:tagLst xmlns:p="http://schemas.openxmlformats.org/presentationml/2006/main">
  <p:tag name="KSO_WM_DIAGRAM_VIRTUALLY_FRAME" val="{&quot;height&quot;:312,&quot;left&quot;:46.386771653543285,&quot;top&quot;:138.6,&quot;width&quot;:929.4126771653544}"/>
</p:tagLst>
</file>

<file path=ppt/tags/tag117.xml><?xml version="1.0" encoding="utf-8"?>
<p:tagLst xmlns:p="http://schemas.openxmlformats.org/presentationml/2006/main">
  <p:tag name="KSO_WM_BEAUTIFY_FLAG" val=""/>
</p:tagLst>
</file>

<file path=ppt/tags/tag118.xml><?xml version="1.0" encoding="utf-8"?>
<p:tagLst xmlns:p="http://schemas.openxmlformats.org/presentationml/2006/main">
  <p:tag name="KSO_WM_BEAUTIFY_FLAG" val=""/>
</p:tagLst>
</file>

<file path=ppt/tags/tag119.xml><?xml version="1.0" encoding="utf-8"?>
<p:tagLst xmlns:p="http://schemas.openxmlformats.org/presentationml/2006/main">
  <p:tag name="KSO_WM_BEAUTIFY_FLAG" val=""/>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BEAUTIFY_FLAG" val=""/>
</p:tagLst>
</file>

<file path=ppt/tags/tag123.xml><?xml version="1.0" encoding="utf-8"?>
<p:tagLst xmlns:p="http://schemas.openxmlformats.org/presentationml/2006/main">
  <p:tag name="KSO_WM_BEAUTIFY_FLAG" val=""/>
</p:tagLst>
</file>

<file path=ppt/tags/tag124.xml><?xml version="1.0" encoding="utf-8"?>
<p:tagLst xmlns:p="http://schemas.openxmlformats.org/presentationml/2006/main">
  <p:tag name="KSO_WM_BEAUTIFY_FLAG" val=""/>
</p:tagLst>
</file>

<file path=ppt/tags/tag125.xml><?xml version="1.0" encoding="utf-8"?>
<p:tagLst xmlns:p="http://schemas.openxmlformats.org/presentationml/2006/main">
  <p:tag name="KSO_WM_BEAUTIFY_FLAG" val=""/>
</p:tagLst>
</file>

<file path=ppt/tags/tag126.xml><?xml version="1.0" encoding="utf-8"?>
<p:tagLst xmlns:p="http://schemas.openxmlformats.org/presentationml/2006/main">
  <p:tag name="KSO_WM_BEAUTIFY_FLAG" val=""/>
</p:tagLst>
</file>

<file path=ppt/tags/tag127.xml><?xml version="1.0" encoding="utf-8"?>
<p:tagLst xmlns:p="http://schemas.openxmlformats.org/presentationml/2006/main">
  <p:tag name="KSO_WM_BEAUTIFY_FLAG" val=""/>
</p:tagLst>
</file>

<file path=ppt/tags/tag128.xml><?xml version="1.0" encoding="utf-8"?>
<p:tagLst xmlns:p="http://schemas.openxmlformats.org/presentationml/2006/main">
  <p:tag name="KSO_WM_BEAUTIFY_FLAG" val=""/>
</p:tagLst>
</file>

<file path=ppt/tags/tag129.xml><?xml version="1.0" encoding="utf-8"?>
<p:tagLst xmlns:p="http://schemas.openxmlformats.org/presentationml/2006/main">
  <p:tag name="KSO_WM_BEAUTIFY_FLAG" val=""/>
</p:tagLst>
</file>

<file path=ppt/tags/tag130.xml><?xml version="1.0" encoding="utf-8"?>
<p:tagLst xmlns:p="http://schemas.openxmlformats.org/presentationml/2006/main">
  <p:tag name="KSO_WM_BEAUTIFY_FLAG" val=""/>
</p:tagLst>
</file>

<file path=ppt/tags/tag13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32.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33.xml><?xml version="1.0" encoding="utf-8"?>
<p:tagLst xmlns:p="http://schemas.openxmlformats.org/presentationml/2006/main">
  <p:tag name="KSO_WM_BEAUTIFY_FLAG" val=""/>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WM_BEAUTIFY_FLAG" val=""/>
</p:tagLst>
</file>

<file path=ppt/tags/tag136.xml><?xml version="1.0" encoding="utf-8"?>
<p:tagLst xmlns:p="http://schemas.openxmlformats.org/presentationml/2006/main">
  <p:tag name="KSO_WM_BEAUTIFY_FLAG" val=""/>
</p:tagLst>
</file>

<file path=ppt/tags/tag137.xml><?xml version="1.0" encoding="utf-8"?>
<p:tagLst xmlns:p="http://schemas.openxmlformats.org/presentationml/2006/main">
  <p:tag name="KSO_WM_BEAUTIFY_FLAG" val=""/>
</p:tagLst>
</file>

<file path=ppt/tags/tag138.xml><?xml version="1.0" encoding="utf-8"?>
<p:tagLst xmlns:p="http://schemas.openxmlformats.org/presentationml/2006/main">
  <p:tag name="KSO_WM_DIAGRAM_VIRTUALLY_FRAME" val="{&quot;height&quot;:304.7015748031496,&quot;left&quot;:45.236771653543286,&quot;top&quot;:138.6,&quot;width&quot;:896.7277974382536}"/>
</p:tagLst>
</file>

<file path=ppt/tags/tag139.xml><?xml version="1.0" encoding="utf-8"?>
<p:tagLst xmlns:p="http://schemas.openxmlformats.org/presentationml/2006/main">
  <p:tag name="KSO_WM_DIAGRAM_VIRTUALLY_FRAME" val="{&quot;height&quot;:304.7015748031496,&quot;left&quot;:45.236771653543286,&quot;top&quot;:138.6,&quot;width&quot;:896.7277974382536}"/>
</p:tagLst>
</file>

<file path=ppt/tags/tag140.xml><?xml version="1.0" encoding="utf-8"?>
<p:tagLst xmlns:p="http://schemas.openxmlformats.org/presentationml/2006/main">
  <p:tag name="KSO_WM_DIAGRAM_VIRTUALLY_FRAME" val="{&quot;height&quot;:304.7015748031496,&quot;left&quot;:45.236771653543286,&quot;top&quot;:138.6,&quot;width&quot;:896.7277974382536}"/>
</p:tagLst>
</file>

<file path=ppt/tags/tag141.xml><?xml version="1.0" encoding="utf-8"?>
<p:tagLst xmlns:p="http://schemas.openxmlformats.org/presentationml/2006/main">
  <p:tag name="KSO_WM_DIAGRAM_VIRTUALLY_FRAME" val="{&quot;height&quot;:304.7015748031496,&quot;left&quot;:45.236771653543286,&quot;top&quot;:138.6,&quot;width&quot;:896.7277974382536}"/>
</p:tagLst>
</file>

<file path=ppt/tags/tag142.xml><?xml version="1.0" encoding="utf-8"?>
<p:tagLst xmlns:p="http://schemas.openxmlformats.org/presentationml/2006/main">
  <p:tag name="KSO_WM_DIAGRAM_VIRTUALLY_FRAME" val="{&quot;height&quot;:304.7015748031496,&quot;left&quot;:45.236771653543286,&quot;top&quot;:138.6,&quot;width&quot;:896.7277974382536}"/>
</p:tagLst>
</file>

<file path=ppt/tags/tag143.xml><?xml version="1.0" encoding="utf-8"?>
<p:tagLst xmlns:p="http://schemas.openxmlformats.org/presentationml/2006/main">
  <p:tag name="KSO_WM_DIAGRAM_VIRTUALLY_FRAME" val="{&quot;height&quot;:304.7015748031496,&quot;left&quot;:45.236771653543286,&quot;top&quot;:138.6,&quot;width&quot;:896.7277974382536}"/>
</p:tagLst>
</file>

<file path=ppt/tags/tag144.xml><?xml version="1.0" encoding="utf-8"?>
<p:tagLst xmlns:p="http://schemas.openxmlformats.org/presentationml/2006/main">
  <p:tag name="KSO_WM_DIAGRAM_VIRTUALLY_FRAME" val="{&quot;height&quot;:304.7015748031496,&quot;left&quot;:45.236771653543286,&quot;top&quot;:138.6,&quot;width&quot;:896.7277974382536}"/>
</p:tagLst>
</file>

<file path=ppt/tags/tag145.xml><?xml version="1.0" encoding="utf-8"?>
<p:tagLst xmlns:p="http://schemas.openxmlformats.org/presentationml/2006/main">
  <p:tag name="KSO_WM_DIAGRAM_VIRTUALLY_FRAME" val="{&quot;height&quot;:304.7015748031496,&quot;left&quot;:45.236771653543286,&quot;top&quot;:138.6,&quot;width&quot;:896.7277974382536}"/>
</p:tagLst>
</file>

<file path=ppt/tags/tag146.xml><?xml version="1.0" encoding="utf-8"?>
<p:tagLst xmlns:p="http://schemas.openxmlformats.org/presentationml/2006/main">
  <p:tag name="KSO_WM_DIAGRAM_VIRTUALLY_FRAME" val="{&quot;height&quot;:304.7015748031496,&quot;left&quot;:45.236771653543286,&quot;top&quot;:138.6,&quot;width&quot;:896.7277974382536}"/>
</p:tagLst>
</file>

<file path=ppt/tags/tag147.xml><?xml version="1.0" encoding="utf-8"?>
<p:tagLst xmlns:p="http://schemas.openxmlformats.org/presentationml/2006/main">
  <p:tag name="KSO_WM_DIAGRAM_VIRTUALLY_FRAME" val="{&quot;height&quot;:304.7015748031496,&quot;left&quot;:45.236771653543286,&quot;top&quot;:138.6,&quot;width&quot;:896.7277974382536}"/>
</p:tagLst>
</file>

<file path=ppt/tags/tag148.xml><?xml version="1.0" encoding="utf-8"?>
<p:tagLst xmlns:p="http://schemas.openxmlformats.org/presentationml/2006/main">
  <p:tag name="KSO_WM_DIAGRAM_VIRTUALLY_FRAME" val="{&quot;height&quot;:304.7015748031496,&quot;left&quot;:45.236771653543286,&quot;top&quot;:138.6,&quot;width&quot;:896.7277974382536}"/>
</p:tagLst>
</file>

<file path=ppt/tags/tag149.xml><?xml version="1.0" encoding="utf-8"?>
<p:tagLst xmlns:p="http://schemas.openxmlformats.org/presentationml/2006/main">
  <p:tag name="KSO_WM_DIAGRAM_VIRTUALLY_FRAME" val="{&quot;height&quot;:304.7015748031496,&quot;left&quot;:45.236771653543286,&quot;top&quot;:138.6,&quot;width&quot;:896.7277974382536}"/>
</p:tagLst>
</file>

<file path=ppt/tags/tag150.xml><?xml version="1.0" encoding="utf-8"?>
<p:tagLst xmlns:p="http://schemas.openxmlformats.org/presentationml/2006/main">
  <p:tag name="KSO_WM_DIAGRAM_VIRTUALLY_FRAME" val="{&quot;height&quot;:304.7015748031496,&quot;left&quot;:45.236771653543286,&quot;top&quot;:138.6,&quot;width&quot;:896.7277974382536}"/>
</p:tagLst>
</file>

<file path=ppt/tags/tag151.xml><?xml version="1.0" encoding="utf-8"?>
<p:tagLst xmlns:p="http://schemas.openxmlformats.org/presentationml/2006/main">
  <p:tag name="KSO_WM_DIAGRAM_VIRTUALLY_FRAME" val="{&quot;height&quot;:304.7015748031496,&quot;left&quot;:45.236771653543286,&quot;top&quot;:138.6,&quot;width&quot;:896.7277974382536}"/>
</p:tagLst>
</file>

<file path=ppt/tags/tag152.xml><?xml version="1.0" encoding="utf-8"?>
<p:tagLst xmlns:p="http://schemas.openxmlformats.org/presentationml/2006/main">
  <p:tag name="KSO_WM_DIAGRAM_VIRTUALLY_FRAME" val="{&quot;height&quot;:304.7015748031496,&quot;left&quot;:45.236771653543286,&quot;top&quot;:138.6,&quot;width&quot;:896.7277974382536}"/>
</p:tagLst>
</file>

<file path=ppt/tags/tag153.xml><?xml version="1.0" encoding="utf-8"?>
<p:tagLst xmlns:p="http://schemas.openxmlformats.org/presentationml/2006/main">
  <p:tag name="KSO_WM_DIAGRAM_VIRTUALLY_FRAME" val="{&quot;height&quot;:304.7015748031496,&quot;left&quot;:45.236771653543286,&quot;top&quot;:138.6,&quot;width&quot;:896.7277974382536}"/>
</p:tagLst>
</file>

<file path=ppt/tags/tag154.xml><?xml version="1.0" encoding="utf-8"?>
<p:tagLst xmlns:p="http://schemas.openxmlformats.org/presentationml/2006/main">
  <p:tag name="KSO_WM_DIAGRAM_VIRTUALLY_FRAME" val="{&quot;height&quot;:304.7015748031496,&quot;left&quot;:45.236771653543286,&quot;top&quot;:138.6,&quot;width&quot;:896.7277974382536}"/>
</p:tagLst>
</file>

<file path=ppt/tags/tag155.xml><?xml version="1.0" encoding="utf-8"?>
<p:tagLst xmlns:p="http://schemas.openxmlformats.org/presentationml/2006/main">
  <p:tag name="KSO_WM_BEAUTIFY_FLAG" val=""/>
</p:tagLst>
</file>

<file path=ppt/tags/tag156.xml><?xml version="1.0" encoding="utf-8"?>
<p:tagLst xmlns:p="http://schemas.openxmlformats.org/presentationml/2006/main">
  <p:tag name="KSO_WM_BEAUTIFY_FLAG" val=""/>
</p:tagLst>
</file>

<file path=ppt/tags/tag157.xml><?xml version="1.0" encoding="utf-8"?>
<p:tagLst xmlns:p="http://schemas.openxmlformats.org/presentationml/2006/main">
  <p:tag name="KSO_WM_BEAUTIFY_FLAG" val=""/>
</p:tagLst>
</file>

<file path=ppt/tags/tag158.xml><?xml version="1.0" encoding="utf-8"?>
<p:tagLst xmlns:p="http://schemas.openxmlformats.org/presentationml/2006/main">
  <p:tag name="KSO_WM_BEAUTIFY_FLAG" val=""/>
</p:tagLst>
</file>

<file path=ppt/tags/tag159.xml><?xml version="1.0" encoding="utf-8"?>
<p:tagLst xmlns:p="http://schemas.openxmlformats.org/presentationml/2006/main">
  <p:tag name="KSO_WM_BEAUTIFY_FLAG" val=""/>
</p:tagLst>
</file>

<file path=ppt/tags/tag160.xml><?xml version="1.0" encoding="utf-8"?>
<p:tagLst xmlns:p="http://schemas.openxmlformats.org/presentationml/2006/main">
  <p:tag name="KSO_WM_BEAUTIFY_FLAG" val=""/>
</p:tagLst>
</file>

<file path=ppt/tags/tag161.xml><?xml version="1.0" encoding="utf-8"?>
<p:tagLst xmlns:p="http://schemas.openxmlformats.org/presentationml/2006/main">
  <p:tag name="KSO_WM_BEAUTIFY_FLAG" val=""/>
</p:tagLst>
</file>

<file path=ppt/tags/tag162.xml><?xml version="1.0" encoding="utf-8"?>
<p:tagLst xmlns:p="http://schemas.openxmlformats.org/presentationml/2006/main">
  <p:tag name="KSO_WM_BEAUTIFY_FLAG" val=""/>
</p:tagLst>
</file>

<file path=ppt/tags/tag163.xml><?xml version="1.0" encoding="utf-8"?>
<p:tagLst xmlns:p="http://schemas.openxmlformats.org/presentationml/2006/main">
  <p:tag name="KSO_WM_BEAUTIFY_FLAG" val=""/>
</p:tagLst>
</file>

<file path=ppt/tags/tag164.xml><?xml version="1.0" encoding="utf-8"?>
<p:tagLst xmlns:p="http://schemas.openxmlformats.org/presentationml/2006/main">
  <p:tag name="KSO_WM_BEAUTIFY_FLAG" val=""/>
</p:tagLst>
</file>

<file path=ppt/tags/tag16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66.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67.xml><?xml version="1.0" encoding="utf-8"?>
<p:tagLst xmlns:p="http://schemas.openxmlformats.org/presentationml/2006/main">
  <p:tag name="KSO_WM_BEAUTIFY_FLAG" val=""/>
</p:tagLst>
</file>

<file path=ppt/tags/tag168.xml><?xml version="1.0" encoding="utf-8"?>
<p:tagLst xmlns:p="http://schemas.openxmlformats.org/presentationml/2006/main">
  <p:tag name="KSO_WM_BEAUTIFY_FLAG" val=""/>
</p:tagLst>
</file>

<file path=ppt/tags/tag169.xml><?xml version="1.0" encoding="utf-8"?>
<p:tagLst xmlns:p="http://schemas.openxmlformats.org/presentationml/2006/main">
  <p:tag name="KSO_WM_BEAUTIFY_FLAG" val=""/>
</p:tagLst>
</file>

<file path=ppt/tags/tag170.xml><?xml version="1.0" encoding="utf-8"?>
<p:tagLst xmlns:p="http://schemas.openxmlformats.org/presentationml/2006/main">
  <p:tag name="KSO_WM_BEAUTIFY_FLAG" val=""/>
</p:tagLst>
</file>

<file path=ppt/tags/tag171.xml><?xml version="1.0" encoding="utf-8"?>
<p:tagLst xmlns:p="http://schemas.openxmlformats.org/presentationml/2006/main">
  <p:tag name="KSO_WM_BEAUTIFY_FLAG" val=""/>
</p:tagLst>
</file>

<file path=ppt/tags/tag172.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3991</Words>
  <Application>WPS 演示</Application>
  <PresentationFormat>宽屏</PresentationFormat>
  <Paragraphs>168</Paragraphs>
  <Slides>18</Slides>
  <Notes>35</Notes>
  <HiddenSlides>0</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18</vt:i4>
      </vt:variant>
    </vt:vector>
  </HeadingPairs>
  <TitlesOfParts>
    <vt:vector size="29" baseType="lpstr">
      <vt:lpstr>Arial</vt:lpstr>
      <vt:lpstr>宋体</vt:lpstr>
      <vt:lpstr>Wingdings</vt:lpstr>
      <vt:lpstr>微软雅黑</vt:lpstr>
      <vt:lpstr>Wingdings</vt:lpstr>
      <vt:lpstr>等线</vt:lpstr>
      <vt:lpstr>DIN-BoldItalic</vt:lpstr>
      <vt:lpstr>思源宋体</vt:lpstr>
      <vt:lpstr>JetBrainsMono NF</vt:lpstr>
      <vt:lpstr>1_自定义设计方案</vt:lpstr>
      <vt:lpstr>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1149</cp:revision>
  <dcterms:created xsi:type="dcterms:W3CDTF">2019-06-19T02:08:00Z</dcterms:created>
  <dcterms:modified xsi:type="dcterms:W3CDTF">2026-05-23T13:28:03Z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4C1A0F87174841478079E9EB74597ECD_13</vt:lpwstr>
  </property>
</Properties>
</file>