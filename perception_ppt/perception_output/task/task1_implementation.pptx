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17"/>
  </p:notesMasterIdLst>
  <p:handoutMasterIdLst>
    <p:handoutMasterId r:id="rId18"/>
  </p:handoutMasterIdLst>
  <p:sldIdLst>
    <p:sldId id="2880" r:id="rId4"/>
    <p:sldId id="2892" r:id="rId5"/>
    <p:sldId id="2891" r:id="rId6"/>
    <p:sldId id="2890" r:id="rId7"/>
    <p:sldId id="2889" r:id="rId8"/>
    <p:sldId id="2888" r:id="rId9"/>
    <p:sldId id="2887" r:id="rId10"/>
    <p:sldId id="2886" r:id="rId11"/>
    <p:sldId id="2885" r:id="rId12"/>
    <p:sldId id="2884" r:id="rId13"/>
    <p:sldId id="2883" r:id="rId14"/>
    <p:sldId id="2882" r:id="rId15"/>
    <p:sldId id="2881" r:id="rId16"/>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98" userDrawn="1">
          <p15:clr>
            <a:srgbClr val="A4A3A4"/>
          </p15:clr>
        </p15:guide>
        <p15:guide id="2" pos="365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dministrator" initials="A" lastIdx="5" clrIdx="0"/>
  <p:cmAuthor id="1" name="幸全" initials="幸全" lastIdx="1" clrIdx="0"/>
  <p:cmAuthor id="2" name="作者" initials="A" lastIdx="0" clrIdx="1"/>
  <p:cmAuthor id="3" name="zijun" initials="z" lastIdx="1" clrIdx="2"/>
  <p:cmAuthor id="5" name="ASUS" initials="A" lastIdx="2" clrIdx="4"/>
  <p:cmAuthor id="6" name="linhuan" initials="l" lastIdx="18"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4D2"/>
    <a:srgbClr val="3A6CA3"/>
    <a:srgbClr val="2169D3"/>
    <a:srgbClr val="595959"/>
    <a:srgbClr val="F29421"/>
    <a:srgbClr val="FFFFFF"/>
    <a:srgbClr val="E29A9A"/>
    <a:srgbClr val="D9D9D9"/>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5244" autoAdjust="0"/>
  </p:normalViewPr>
  <p:slideViewPr>
    <p:cSldViewPr snapToGrid="0" showGuides="1">
      <p:cViewPr varScale="1">
        <p:scale>
          <a:sx n="66" d="100"/>
          <a:sy n="66" d="100"/>
        </p:scale>
        <p:origin x="712" y="48"/>
      </p:cViewPr>
      <p:guideLst>
        <p:guide orient="horz" pos="1798"/>
        <p:guide pos="3656"/>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3" Type="http://schemas.openxmlformats.org/officeDocument/2006/relationships/tags" Target="tags/tag76.xml"/><Relationship Id="rId22" Type="http://schemas.openxmlformats.org/officeDocument/2006/relationships/commentAuthors" Target="commentAuthors.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notesMaster" Target="notesMasters/notes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F51CC480-FC89-4E2E-BB6A-EFF978791FAC}"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A255A7EE-E527-4C9D-8585-493F7BE371F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4116000" y="6314400"/>
            <a:ext cx="3960000" cy="316800"/>
          </a:xfrm>
        </p:spPr>
        <p:txBody>
          <a:bodyPr/>
          <a:lstStyle/>
          <a:p>
            <a:endParaRPr lang="zh-CN" altLang="en-US"/>
          </a:p>
        </p:txBody>
      </p:sp>
      <p:sp>
        <p:nvSpPr>
          <p:cNvPr id="7" name="灯片编号占位符 6"/>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4116000" y="6314400"/>
            <a:ext cx="3960000" cy="316800"/>
          </a:xfrm>
        </p:spPr>
        <p:txBody>
          <a:bodyPr/>
          <a:lstStyle/>
          <a:p>
            <a:endParaRPr lang="zh-CN" altLang="en-US"/>
          </a:p>
        </p:txBody>
      </p:sp>
      <p:sp>
        <p:nvSpPr>
          <p:cNvPr id="9" name="灯片编号占位符 8"/>
          <p:cNvSpPr>
            <a:spLocks noGrp="1"/>
          </p:cNvSpPr>
          <p:nvPr>
            <p:ph type="sldNum" sz="quarter" idx="12"/>
            <p:custDataLst>
              <p:tags r:id="rId9"/>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a:xfrm>
            <a:off x="612000" y="6314400"/>
            <a:ext cx="2700000" cy="316800"/>
          </a:xfrm>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8877600" y="6314400"/>
            <a:ext cx="2700000" cy="316800"/>
          </a:xfrm>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a:xfrm>
            <a:off x="10353745" y="7820730"/>
            <a:ext cx="10969200" cy="705600"/>
          </a:xfrm>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638300" y="365125"/>
            <a:ext cx="9715500" cy="1055370"/>
          </a:xfrm>
        </p:spPr>
        <p:txBody>
          <a:bodyPr anchor="ctr"/>
          <a:lstStyle>
            <a:lvl1pPr>
              <a:defRPr sz="3200">
                <a:solidFill>
                  <a:srgbClr val="0064D2"/>
                </a:solidFill>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dirty="0"/>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优先选择1">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image" Target="../media/image2.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6" Type="http://schemas.openxmlformats.org/officeDocument/2006/relationships/theme" Target="../theme/theme2.xml"/><Relationship Id="rId15" Type="http://schemas.openxmlformats.org/officeDocument/2006/relationships/image" Target="../media/image2.png"/><Relationship Id="rId14" Type="http://schemas.openxmlformats.org/officeDocument/2006/relationships/image" Target="../media/image3.png"/><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3"/>
          <p:cNvPicPr>
            <a:picLocks noChangeAspect="1"/>
          </p:cNvPicPr>
          <p:nvPr userDrawn="1"/>
        </p:nvPicPr>
        <p:blipFill>
          <a:blip r:embed="rId9"/>
          <a:stretch>
            <a:fillRect/>
          </a:stretch>
        </p:blipFill>
        <p:spPr>
          <a:xfrm>
            <a:off x="0" y="0"/>
            <a:ext cx="12181205" cy="6858000"/>
          </a:xfrm>
          <a:prstGeom prst="rect">
            <a:avLst/>
          </a:prstGeom>
        </p:spPr>
      </p:pic>
      <p:pic>
        <p:nvPicPr>
          <p:cNvPr id="2" name="图片 1"/>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949130" y="0"/>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2"/>
          <p:cNvPicPr>
            <a:picLocks noChangeAspect="1"/>
          </p:cNvPicPr>
          <p:nvPr userDrawn="1"/>
        </p:nvPicPr>
        <p:blipFill>
          <a:blip r:embed="rId14"/>
          <a:stretch>
            <a:fillRect/>
          </a:stretch>
        </p:blipFill>
        <p:spPr>
          <a:xfrm>
            <a:off x="0" y="-5715"/>
            <a:ext cx="12192000" cy="6863715"/>
          </a:xfrm>
          <a:prstGeom prst="rect">
            <a:avLst/>
          </a:prstGeom>
        </p:spPr>
      </p:pic>
      <p:pic>
        <p:nvPicPr>
          <p:cNvPr id="2" name="图片 1"/>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959925" y="-5715"/>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15.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04</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8" name="文本框1"/>
          <p:cNvSpPr txBox="1"/>
          <p:nvPr>
            <p:custDataLst>
              <p:tags r:id="rId1"/>
            </p:custDataLst>
          </p:nvPr>
        </p:nvSpPr>
        <p:spPr>
          <a:xfrm>
            <a:off x="3844925" y="5423535"/>
            <a:ext cx="432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构建智能学习助手</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grpSp>
        <p:nvGrpSpPr>
          <p:cNvPr id="2" name="组合 1"/>
          <p:cNvGrpSpPr/>
          <p:nvPr>
            <p:custDataLst>
              <p:tags r:id="rId2"/>
            </p:custDataLst>
          </p:nvPr>
        </p:nvGrpSpPr>
        <p:grpSpPr>
          <a:xfrm>
            <a:off x="5052140" y="2077085"/>
            <a:ext cx="2087958" cy="2571359"/>
            <a:chOff x="4536" y="3212"/>
            <a:chExt cx="3287" cy="4048"/>
          </a:xfrm>
        </p:grpSpPr>
        <p:sp>
          <p:nvSpPr>
            <p:cNvPr id="3" name="圆角矩形 34"/>
            <p:cNvSpPr/>
            <p:nvPr>
              <p:custDataLst>
                <p:tags r:id="rId3"/>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4" name="圆角矩形 38"/>
            <p:cNvSpPr/>
            <p:nvPr>
              <p:custDataLst>
                <p:tags r:id="rId4"/>
              </p:custDataLst>
            </p:nvPr>
          </p:nvSpPr>
          <p:spPr>
            <a:xfrm rot="2700000">
              <a:off x="4943" y="4671"/>
              <a:ext cx="2185" cy="2185"/>
            </a:xfrm>
            <a:prstGeom prst="roundRect">
              <a:avLst>
                <a:gd name="adj" fmla="val 631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6" name="任意多边形 42"/>
            <p:cNvSpPr/>
            <p:nvPr>
              <p:custDataLst>
                <p:tags r:id="rId5"/>
              </p:custDataLst>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9" name="文本框 8"/>
          <p:cNvSpPr txBox="1"/>
          <p:nvPr>
            <p:custDataLst>
              <p:tags r:id="rId6"/>
            </p:custDataLst>
          </p:nvPr>
        </p:nvSpPr>
        <p:spPr>
          <a:xfrm>
            <a:off x="5642257" y="3226193"/>
            <a:ext cx="682858" cy="1014730"/>
          </a:xfrm>
          <a:prstGeom prst="rect">
            <a:avLst/>
          </a:prstGeom>
          <a:noFill/>
        </p:spPr>
        <p:txBody>
          <a:bodyPr wrap="square" rtlCol="0">
            <a:sp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任务实施</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在构建智能学习助手之前，首先需要准备学习资料作为知识库。系统提供了整理好的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Python 3.10</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官方文档，存放在指定路径中，这些文档将作为构建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相关知识库的基础材料。在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平台中，用户需要进入知识库页面，创建一个新的知识库并命名为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学习资料库</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。创建过程中，需要配置模型和嵌入方式，具体配置方法可参考平台指引。完成知识库创建后，点击对应的卡片进入管理页面，在页面右上角选择</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新增文件</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，然后从弹出菜单中选择</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上传文件</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，将路径中的所有</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txt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文档上传。上传时建议勾选左上角的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创建时解析</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选项，这样文件上传成功后会自动解析为知识库文件，省去手动处理的步骤。关于知识库创建的更多细节，将在后续课程中详细介绍。</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知识库创建完成后，需要验证知识是否能够被正确召回。用户可以通过左侧菜单栏中的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检索测试</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功能进行检验。在测试界面下方的对话框中输入测试问题，例如</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中常见的数据结构有什么</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，然后点击运行按钮。右侧会显示测试样例的召回结果，其中排名第一的结果应包含所需的数据结构相关内容。用户也可以根据自己的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知识或实际需求，提出其他问题来进行测试，确保知识库的检索效果符合预期。这一步骤是后续智能学习助手能够准确回答用户问题的基础，因此需要认真完成知识库的创建和测试工作。</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本任务开发的智能学习助手主要包含两个核心功能：召回学习资料和制定学习计划。为了使对话更加智能和自然，还需要添加第三个路由来应对其他问题，并在该路由的回复中引导用户使用前两个主要功能。根据上述路由意图，需要规划一个流程图来指导整个智能体的开发。首先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平台新建一个智能体应用，命名为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我的学习助手</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，然后进入应用编辑界面，选取合适的节点搭建工作流雏形。工作流中需要包含</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意图分析</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节点，该节点负责判断用户提问的目的。为了方便管理整个会话的状态，需要将用户的意图处理为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JSON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格式的表单，在对话过程中通过维护这个表单中的信息来实现不同的路由和信息的传递。</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意图分析节点输出的表单包含多个变量，其中</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Confidence</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用于了解</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Agent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判断依据的充分性，其他变量则是用户意图的结构化格式。因此，对意图分析节点的约束提示词需要明确要求它将用户意图解构后格式化输出为上述表单。由于</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的条件工具不支持成员变量，还需要使用代码节点将路由意图变量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intent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从表单中拆分出来。同时，为了后续流程的顺畅，还需要将话题变量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topic</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从表单中拆分出来。代码节点的返回值需要设定为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string</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格式的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intent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。话题分割节点的处理方式类似，区别仅在于将所有</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intent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替换为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topic</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。在条件分支节点中，需要使用返回的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intent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变量来设置三种路由，分别对应三条不同的意图，从而实现智能体的路由功能。</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知识检索功能是智能学习助手的核心能力之一，它能够为智能体提供可靠的相关知识，从而生成准确的回答。在设计这一功能时，需要使用知识检索节点。打开该节点的详情页面后，需要选择检索类型和检索的知识库，这里应设置为第一步准备好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学习资料库</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。检索词的设置非常关键，需要同时使用用户的原始提问问题和前置节点分析出的用户意图话题</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topic</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作为检索词，这样能够更精准地搜索到相关资料。检索到的资料会传入后续的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总结学习知识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节点，由该节点对检索结果进行整理和总结。</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为了确保智能体生成的回答基于可靠的知识，需要在系统提示词中显式要求智能体采用检索到的知识来生成回复内容。这样，当智能体生成答案时，会参考知识检索节点提供的内容，构建出可信的回复信息。通过这种方式，智能学习助手能够避免凭空编造答案，而是基于真实的知识库内容来回答用户的问题，从而提高回答的准确性和可靠性。这一设计思路体现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RAG</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（检索增强生成）技术的核心思想，即通过检索外部知识来增强语言模型的生成能力。</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学习计划制定功能需要用户提供一些关键信息才能有效执行。这些信息包括学习目标、时间安排、学习内容偏好等，是制定计划不可或缺的要素。如果用户提供的信息不充分，智能体需要具备追问机制来让用户补全缺失信息。为此，需要先制作一个全局变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env.summary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，将这些信息作为会话层级的变量进行管理。在智能体的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信息追问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节点中，需要构建提示词，使其关注全局变量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env.summary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，并结合用户输入的信息和该变量共同判断信息是否收集完全。最后，同样使用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JSON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格式输出表单记录结果，交给后续节点判断是直接输出学习计划还是继续追问用户收集信息。</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全局变量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env.summary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需要在每轮会话中进行维护。具体实现时，需要使用代码节点从表单中拆分出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summary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变量，然后通过变量赋值节点将它的结果以覆盖的方式更新到全局变量中。由于</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意图追问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节点只会返回</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JSON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格式的表单数据，还需要一个智能体节点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创建学习计划</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来根据表单内容生成用户可以理解的回复，包括追问内容或最终的学习计划。因此，需要配置该节点的提示词，使其能够将结构化的表单数据转化为自然语言回复，让用户能够清晰地理解智能体的意图和建议。通过这种方式，学习计划制定功能能够通过多轮对话逐步收集信息，最终生成个性化的学习计划。</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默认路由用于处理用户提出的不属于知识检索和学习计划制定这两条主要路由的问题。当用户询问其他类型的问题时，智能体需要通过默认路由来回应，并引导用户使用主要功能。设计默认路由时，需要配置相应的提示词，使智能体能够礼貌地告知用户其功能范围，并引导用户提出与</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学习相关的问题或学习计划需求。例如，智能体可以回复说：</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我目前主要提供</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知识检索和学习计划制定服务，请问您想了解</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的哪个知识点，或者需要我帮您制定一个学习计划吗？</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通过这种方式，即使智能体无法直接回答用户的问题，也能够将对话引导回核心功能上，提升用户体验。</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默认路由的实现需要与整体工作流保持一致。在条件分支节点中，当</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intent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变量不属于知识检索或学习计划制定的意图时，会触发默认路由。该路由的输出结果会与其他两条路由的输出结果一起，通过变量聚合器汇聚到回复节点，最终呈现给用户。通过合理设计默认路由的提示词和回复内容，智能学习助手能够在处理各种用户问题时保持对话的连贯性和友好性，同时有效引导用户使用其主要功能。</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完成所有功能模块的设计后，需要进行最后的整合和测试。首先，需要使用变量聚合器创建聚合分组，将知识检索、学习计划制定和默认路由三条路由中的输出结果汇聚在一起，然后传递给回复节点。这样，无论用户触发哪条路由，最终的回复都能够通过统一的输出通道呈现给用户。整体效果需要在页面右上方保存并运行后，通过测试提问来验证智能学习助手是否能够正常工作。测试时，可以提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相关问题，看智能体是否能够准确召回知识库中的内容并生成回答；也可以尝试通过多轮对话来制定学习计划，验证信息收集和计划生成功能是否顺畅。</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学员可以编辑自己感兴趣的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学习话题抛给智能助手进行测试，也可以使用系统提供的样例问题进行验证。通过实际测试，可以发现潜在的问题并进行调整优化。例如，如果知识检索的召回结果不理想，可以调整检索参数或优化知识库的内容；如果学习计划制定的追问逻辑不够合理，可以修改提示词或调整变量管理方式。测试是确保智能学习助手质量的关键环节，通过充分的测试和迭代，最终能够打造出一个功能完善、用户体验良好的智能学习助手。</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p="http://schemas.openxmlformats.org/presentationml/2006/main">
  <p:tag name="KSO_WM_DIAGRAM_VIRTUALLY_FRAME" val="{&quot;height&quot;:333.7,&quot;left&quot;:116.85,&quot;top&quot;:150.5,&quot;width&quot;:710.2425984251968}"/>
</p:tagLst>
</file>

<file path=ppt/tags/tag71.xml><?xml version="1.0" encoding="utf-8"?>
<p:tagLst xmlns:p="http://schemas.openxmlformats.org/presentationml/2006/main">
  <p:tag name="KSO_WM_DIAGRAM_VIRTUALLY_FRAME" val="{&quot;height&quot;:333.7,&quot;left&quot;:116.85,&quot;top&quot;:150.5,&quot;width&quot;:710.2425984251968}"/>
</p:tagLst>
</file>

<file path=ppt/tags/tag72.xml><?xml version="1.0" encoding="utf-8"?>
<p:tagLst xmlns:p="http://schemas.openxmlformats.org/presentationml/2006/main">
  <p:tag name="KSO_WM_DIAGRAM_VIRTUALLY_FRAME" val="{&quot;height&quot;:333.7,&quot;left&quot;:116.85,&quot;top&quot;:150.5,&quot;width&quot;:710.2425984251968}"/>
</p:tagLst>
</file>

<file path=ppt/tags/tag73.xml><?xml version="1.0" encoding="utf-8"?>
<p:tagLst xmlns:p="http://schemas.openxmlformats.org/presentationml/2006/main">
  <p:tag name="KSO_WM_DIAGRAM_VIRTUALLY_FRAME" val="{&quot;height&quot;:333.7,&quot;left&quot;:116.85,&quot;top&quot;:150.5,&quot;width&quot;:710.2425984251968}"/>
</p:tagLst>
</file>

<file path=ppt/tags/tag74.xml><?xml version="1.0" encoding="utf-8"?>
<p:tagLst xmlns:p="http://schemas.openxmlformats.org/presentationml/2006/main">
  <p:tag name="KSO_WM_DIAGRAM_VIRTUALLY_FRAME" val="{&quot;height&quot;:333.7,&quot;left&quot;:116.85,&quot;top&quot;:150.5,&quot;width&quot;:710.2425984251968}"/>
</p:tagLst>
</file>

<file path=ppt/tags/tag75.xml><?xml version="1.0" encoding="utf-8"?>
<p:tagLst xmlns:p="http://schemas.openxmlformats.org/presentationml/2006/main">
  <p:tag name="KSO_WM_DIAGRAM_VIRTUALLY_FRAME" val="{&quot;height&quot;:333.7,&quot;left&quot;:116.85,&quot;top&quot;:150.5,&quot;width&quot;:710.2425984251968}"/>
</p:tagLst>
</file>

<file path=ppt/tags/tag76.xml><?xml version="1.0" encoding="utf-8"?>
<p:tagLst xmlns:p="http://schemas.openxmlformats.org/presentationml/2006/main">
  <p:tag name="COMMONDATA" val="eyJoZGlkIjoiYzZkNzQ4ZWFiZmQ4NTRhOWRkZTk3YTMwMjlmMmZhYmUifQ=="/>
  <p:tag name="KSO_WPP_MARK_KEY" val="3c15e236-6e17-4788-8b7a-5fd2c15b6c5c"/>
</p:tagLst>
</file>

<file path=ppt/theme/theme1.xml><?xml version="1.0" encoding="utf-8"?>
<a:theme xmlns:a="http://schemas.openxmlformats.org/drawingml/2006/main" name="1_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3182</Words>
  <Application>WPS 演示</Application>
  <PresentationFormat>宽屏</PresentationFormat>
  <Paragraphs>104</Paragraphs>
  <Slides>13</Slides>
  <Notes>35</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13</vt:i4>
      </vt:variant>
    </vt:vector>
  </HeadingPairs>
  <TitlesOfParts>
    <vt:vector size="24" baseType="lpstr">
      <vt:lpstr>Arial</vt:lpstr>
      <vt:lpstr>宋体</vt:lpstr>
      <vt:lpstr>Wingdings</vt:lpstr>
      <vt:lpstr>微软雅黑</vt:lpstr>
      <vt:lpstr>Wingdings</vt:lpstr>
      <vt:lpstr>思源宋体</vt:lpstr>
      <vt:lpstr>DIN-BoldItalic</vt:lpstr>
      <vt:lpstr>等线</vt:lpstr>
      <vt:lpstr>JetBrainsMono NF</vt:lpstr>
      <vt:lpstr>1_自定义设计方案</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别清欢</cp:lastModifiedBy>
  <cp:revision>1150</cp:revision>
  <dcterms:created xsi:type="dcterms:W3CDTF">2019-06-19T02:08:00Z</dcterms:created>
  <dcterms:modified xsi:type="dcterms:W3CDTF">2026-05-23T13:54:41Z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E52D5C763EB94A4784D525628AA21E71_13</vt:lpwstr>
  </property>
</Properties>
</file>