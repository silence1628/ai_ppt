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11"/>
  </p:notesMasterIdLst>
  <p:handoutMasterIdLst>
    <p:handoutMasterId r:id="rId12"/>
  </p:handoutMasterIdLst>
  <p:sldIdLst>
    <p:sldId id="2880" r:id="rId4"/>
    <p:sldId id="2886" r:id="rId5"/>
    <p:sldId id="2885" r:id="rId6"/>
    <p:sldId id="2884" r:id="rId7"/>
    <p:sldId id="2883" r:id="rId8"/>
    <p:sldId id="2882" r:id="rId9"/>
    <p:sldId id="2881" r:id="rId10"/>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98" userDrawn="1">
          <p15:clr>
            <a:srgbClr val="A4A3A4"/>
          </p15:clr>
        </p15:guide>
        <p15:guide id="2" pos="36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798"/>
        <p:guide pos="365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gs" Target="tags/tag94.xml"/><Relationship Id="rId16" Type="http://schemas.openxmlformats.org/officeDocument/2006/relationships/commentAuthors" Target="commen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3" Type="http://schemas.openxmlformats.org/officeDocument/2006/relationships/slideLayout" Target="../slideLayouts/slideLayout15.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3" Type="http://schemas.openxmlformats.org/officeDocument/2006/relationships/slideLayout" Target="../slideLayouts/slideLayout15.xml"/><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tags" Target="../tags/tag8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7538194" y="4134567"/>
            <a:ext cx="1941223" cy="1149108"/>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7391459" y="2641172"/>
            <a:ext cx="1892947" cy="1892947"/>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6184076" y="5350373"/>
            <a:ext cx="4320000" cy="460375"/>
          </a:xfrm>
          <a:prstGeom prst="rect">
            <a:avLst/>
          </a:prstGeom>
          <a:noFill/>
        </p:spPr>
        <p:txBody>
          <a:bodyPr wrap="square" rtlCol="0">
            <a:spAutoFit/>
          </a:bodyPr>
          <a:lstStyle/>
          <a:p>
            <a:pPr lvl="0" algn="ctr">
              <a:buClrTx/>
              <a:buSzTx/>
              <a:buFontTx/>
            </a:pPr>
            <a:r>
              <a:rPr lang="zh-CN" sz="2400" dirty="0" smtClean="0">
                <a:cs typeface="+mn-ea"/>
                <a:sym typeface="+mn-lt"/>
              </a:rPr>
              <a:t>二、会议纪要生成</a:t>
            </a:r>
            <a:endParaRPr lang="zh-CN" sz="2400" dirty="0" smtClean="0">
              <a:cs typeface="+mn-ea"/>
              <a:sym typeface="+mn-lt"/>
            </a:endParaRPr>
          </a:p>
        </p:txBody>
      </p:sp>
      <p:sp>
        <p:nvSpPr>
          <p:cNvPr id="10" name="文本框 9"/>
          <p:cNvSpPr txBox="1"/>
          <p:nvPr>
            <p:custDataLst>
              <p:tags r:id="rId6"/>
            </p:custDataLst>
          </p:nvPr>
        </p:nvSpPr>
        <p:spPr>
          <a:xfrm>
            <a:off x="7981576" y="3119490"/>
            <a:ext cx="682858"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8" name="文本框1"/>
          <p:cNvSpPr txBox="1"/>
          <p:nvPr>
            <p:custDataLst>
              <p:tags r:id="rId7"/>
            </p:custDataLst>
          </p:nvPr>
        </p:nvSpPr>
        <p:spPr>
          <a:xfrm>
            <a:off x="1483995" y="5350510"/>
            <a:ext cx="432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一、智能客服回复优化</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2691210" y="2004060"/>
            <a:ext cx="2087958" cy="2571359"/>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3281327" y="3153168"/>
            <a:ext cx="682858"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某智能门锁企业的客服部门计划上线一个客服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Agent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自动处理用户的常见咨询。教师通过这个案例让学员理解一个核心观点：同一项任务，如果提示词不够清晰，模型输出就会缺乏专业性和稳定性；反之，如果提示词结构清晰，输出则会明显更贴近业务场景。用户输入示例如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版提示词是在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设置的简易提示词，直接根据用户问题生成回答。学员需要思考如何利用所学的评估方法测试这组提示词的潜在问题，并通过提示词工程为其添加约束，构建新的提示词版本。在测试过程中，需要记录常见问题，例如回答泛化、缺少分类、遗漏已知信息、缺少边界提示等。通过反复测试和提问，根据产生的问题不断迭代提示词，最终形成优化版本。</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版提示词是经过优化后的版本，它通过扩充测试样例，对提示词进行了更精细的约束。通过对比两版提示词得到的输出结果可以发现，第一版通常会直接给出建议，但很少体现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售后支持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的身份，回答显得泛化且缺乏针对性。而优化版更容易先识别用户问题是否属于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联网问题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按照结构化的方式输出内容。这种优化后的输出更适合后续接入工单系统或用于页面展示，因为它不仅更专业，还具备了清晰的分类和边界，能够直接服务于业务场景。这一对比清晰地展示了提示词工程在提升模型输出质量中的关键作用。</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44"/>
          <p:cNvSpPr/>
          <p:nvPr>
            <p:custDataLst>
              <p:tags r:id="rId1"/>
            </p:custDataLst>
          </p:nvPr>
        </p:nvSpPr>
        <p:spPr>
          <a:xfrm flipV="1">
            <a:off x="7538194" y="4134567"/>
            <a:ext cx="1941223" cy="1149108"/>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nvGrpSpPr>
          <p:cNvPr id="7" name="组合 6"/>
          <p:cNvGrpSpPr/>
          <p:nvPr>
            <p:custDataLst>
              <p:tags r:id="rId2"/>
            </p:custDataLst>
          </p:nvPr>
        </p:nvGrpSpPr>
        <p:grpSpPr>
          <a:xfrm>
            <a:off x="7391459" y="2641172"/>
            <a:ext cx="1892947" cy="1892947"/>
            <a:chOff x="4536" y="4280"/>
            <a:chExt cx="2980" cy="2980"/>
          </a:xfrm>
        </p:grpSpPr>
        <p:sp>
          <p:nvSpPr>
            <p:cNvPr id="12"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custDataLst>
                <p:tags r:id="rId4"/>
              </p:custDataLst>
            </p:nvPr>
          </p:nvSpPr>
          <p:spPr>
            <a:xfrm rot="2700000">
              <a:off x="4943" y="4671"/>
              <a:ext cx="2185" cy="2185"/>
            </a:xfrm>
            <a:prstGeom prst="roundRect">
              <a:avLst>
                <a:gd name="adj" fmla="val 6319"/>
              </a:avLst>
            </a:prstGeom>
            <a:solidFill>
              <a:srgbClr val="006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52" name="文本框1"/>
          <p:cNvSpPr txBox="1"/>
          <p:nvPr>
            <p:custDataLst>
              <p:tags r:id="rId5"/>
            </p:custDataLst>
          </p:nvPr>
        </p:nvSpPr>
        <p:spPr>
          <a:xfrm>
            <a:off x="6184076" y="5350373"/>
            <a:ext cx="4320000" cy="460375"/>
          </a:xfrm>
          <a:prstGeom prst="rect">
            <a:avLst/>
          </a:prstGeom>
          <a:noFill/>
        </p:spPr>
        <p:txBody>
          <a:bodyPr wrap="square" rtlCol="0">
            <a:spAutoFit/>
          </a:bodyPr>
          <a:lstStyle/>
          <a:p>
            <a:pPr lvl="0" algn="ctr">
              <a:buClrTx/>
              <a:buSzTx/>
              <a:buFontTx/>
            </a:pPr>
            <a:r>
              <a:rPr lang="zh-CN" sz="2400" b="1" dirty="0" smtClean="0">
                <a:solidFill>
                  <a:srgbClr val="0064D2"/>
                </a:solidFill>
                <a:cs typeface="+mn-ea"/>
                <a:sym typeface="+mn-lt"/>
              </a:rPr>
              <a:t>二、会议纪要生成</a:t>
            </a:r>
            <a:endParaRPr lang="zh-CN" sz="2400" b="1" dirty="0" smtClean="0">
              <a:solidFill>
                <a:srgbClr val="0064D2"/>
              </a:solidFill>
              <a:cs typeface="+mn-ea"/>
              <a:sym typeface="+mn-lt"/>
            </a:endParaRPr>
          </a:p>
        </p:txBody>
      </p:sp>
      <p:sp>
        <p:nvSpPr>
          <p:cNvPr id="10" name="文本框 9"/>
          <p:cNvSpPr txBox="1"/>
          <p:nvPr>
            <p:custDataLst>
              <p:tags r:id="rId6"/>
            </p:custDataLst>
          </p:nvPr>
        </p:nvSpPr>
        <p:spPr>
          <a:xfrm>
            <a:off x="7981576" y="3119490"/>
            <a:ext cx="682858"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8" name="文本框1"/>
          <p:cNvSpPr txBox="1"/>
          <p:nvPr>
            <p:custDataLst>
              <p:tags r:id="rId7"/>
            </p:custDataLst>
          </p:nvPr>
        </p:nvSpPr>
        <p:spPr>
          <a:xfrm>
            <a:off x="1483995" y="5350510"/>
            <a:ext cx="432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一、智能客服回复优化</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8"/>
            </p:custDataLst>
          </p:nvPr>
        </p:nvGrpSpPr>
        <p:grpSpPr>
          <a:xfrm>
            <a:off x="2691210" y="2004060"/>
            <a:ext cx="2087958" cy="2571359"/>
            <a:chOff x="4536" y="3212"/>
            <a:chExt cx="3287" cy="4048"/>
          </a:xfrm>
        </p:grpSpPr>
        <p:sp>
          <p:nvSpPr>
            <p:cNvPr id="3" name="圆角矩形 34"/>
            <p:cNvSpPr/>
            <p:nvPr>
              <p:custDataLst>
                <p:tags r:id="rId9"/>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10"/>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75000"/>
                    <a:lumOff val="25000"/>
                  </a:schemeClr>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11"/>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12"/>
            </p:custDataLst>
          </p:nvPr>
        </p:nvSpPr>
        <p:spPr>
          <a:xfrm>
            <a:off x="3281327" y="3153168"/>
            <a:ext cx="682858"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某项目组希望让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Agent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根据会议内容自动生成纪要，这一案例的核心目的并非仅仅展示如何实现自动化，而是引导大家理解在与智能体沟通时，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怎么说</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说什么</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更重要。用户的意图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帮我总结会议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看似简单，但在实际业务中，往往还需要区分决议、待办事项和责任人等关键信息。如果提示词过于简单，智能体可能只会生成一段摘要，而无法输出结构化的协作结果。因此，我们需要通过设计更精细的提示词，来引导大模型按照业务需求进行格式化总结。</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在构建系统提示词时，需要明确告知大模型用什么样的格式进行总结。例如，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版提示词可能只是简单要求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总结会议内容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版提示词则会具体指定输出格式，包括决议、待办事项、责任人和截止时间等字段。通过分别运行两组关键词，可以观察模型是否会漏掉责任人和时间节点等细节。将结果与其他同学的运行结果对比，可以明显看出提示词设计对输出质量的影响。</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通过这两个案例，希望学员理解以下几点信息：第一，简单的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Prompt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常常只能生成摘要，却不能直接形成协作结果，无法满足实际业务需求；第二，一旦在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Prompt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明确要求责任人和截止时间等细节信息，提示词的业务导向就会明显增强，输出结果也会更加实用；第三，提示词工程不是语言修饰，而是业务信息提取设计，其本质是帮助智能体理解用户真实需求，并按照业务逻辑输出结构化信息。</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DIAGRAM_VIRTUALLY_FRAME" val="{&quot;height&quot;:333.7,&quot;left&quot;:181.0367716535433,&quot;top&quot;:150.5,&quot;width&quot;:585.2126771653544}"/>
</p:tagLst>
</file>

<file path=ppt/tags/tag71.xml><?xml version="1.0" encoding="utf-8"?>
<p:tagLst xmlns:p="http://schemas.openxmlformats.org/presentationml/2006/main">
  <p:tag name="KSO_WM_DIAGRAM_VIRTUALLY_FRAME" val="{&quot;height&quot;:333.6891855480546,&quot;left&quot;:181.0367716535433,&quot;top&quot;:150.5,&quot;width&quot;:585.2126771653544}"/>
</p:tagLst>
</file>

<file path=ppt/tags/tag72.xml><?xml version="1.0" encoding="utf-8"?>
<p:tagLst xmlns:p="http://schemas.openxmlformats.org/presentationml/2006/main">
  <p:tag name="KSO_WM_DIAGRAM_VIRTUALLY_FRAME" val="{&quot;height&quot;:333.7,&quot;left&quot;:181.0367716535433,&quot;top&quot;:150.5,&quot;width&quot;:585.2126771653544}"/>
</p:tagLst>
</file>

<file path=ppt/tags/tag73.xml><?xml version="1.0" encoding="utf-8"?>
<p:tagLst xmlns:p="http://schemas.openxmlformats.org/presentationml/2006/main">
  <p:tag name="KSO_WM_DIAGRAM_VIRTUALLY_FRAME" val="{&quot;height&quot;:333.7,&quot;left&quot;:181.0367716535433,&quot;top&quot;:150.5,&quot;width&quot;:585.2126771653544}"/>
</p:tagLst>
</file>

<file path=ppt/tags/tag74.xml><?xml version="1.0" encoding="utf-8"?>
<p:tagLst xmlns:p="http://schemas.openxmlformats.org/presentationml/2006/main">
  <p:tag name="KSO_WM_DIAGRAM_VIRTUALLY_FRAME" val="{&quot;height&quot;:333.7,&quot;left&quot;:181.0367716535433,&quot;top&quot;:150.5,&quot;width&quot;:585.2126771653544}"/>
</p:tagLst>
</file>

<file path=ppt/tags/tag75.xml><?xml version="1.0" encoding="utf-8"?>
<p:tagLst xmlns:p="http://schemas.openxmlformats.org/presentationml/2006/main">
  <p:tag name="KSO_WM_DIAGRAM_VIRTUALLY_FRAME" val="{&quot;height&quot;:333.7,&quot;left&quot;:181.0367716535433,&quot;top&quot;:150.5,&quot;width&quot;:585.2126771653544}"/>
</p:tagLst>
</file>

<file path=ppt/tags/tag76.xml><?xml version="1.0" encoding="utf-8"?>
<p:tagLst xmlns:p="http://schemas.openxmlformats.org/presentationml/2006/main">
  <p:tag name="KSO_WM_DIAGRAM_VIRTUALLY_FRAME" val="{&quot;height&quot;:333.7,&quot;left&quot;:181.0367716535433,&quot;top&quot;:150.5,&quot;width&quot;:585.2126771653544}"/>
</p:tagLst>
</file>

<file path=ppt/tags/tag77.xml><?xml version="1.0" encoding="utf-8"?>
<p:tagLst xmlns:p="http://schemas.openxmlformats.org/presentationml/2006/main">
  <p:tag name="KSO_WM_DIAGRAM_VIRTUALLY_FRAME" val="{&quot;height&quot;:333.6891855480546,&quot;left&quot;:181.0367716535433,&quot;top&quot;:150.5,&quot;width&quot;:585.2126771653544}"/>
</p:tagLst>
</file>

<file path=ppt/tags/tag78.xml><?xml version="1.0" encoding="utf-8"?>
<p:tagLst xmlns:p="http://schemas.openxmlformats.org/presentationml/2006/main">
  <p:tag name="KSO_WM_DIAGRAM_VIRTUALLY_FRAME" val="{&quot;height&quot;:333.7,&quot;left&quot;:181.0367716535433,&quot;top&quot;:150.5,&quot;width&quot;:585.2126771653544}"/>
</p:tagLst>
</file>

<file path=ppt/tags/tag79.xml><?xml version="1.0" encoding="utf-8"?>
<p:tagLst xmlns:p="http://schemas.openxmlformats.org/presentationml/2006/main">
  <p:tag name="KSO_WM_DIAGRAM_VIRTUALLY_FRAME" val="{&quot;height&quot;:333.7,&quot;left&quot;:181.0367716535433,&quot;top&quot;:150.5,&quot;width&quot;:585.2126771653544}"/>
</p:tagLst>
</file>

<file path=ppt/tags/tag80.xml><?xml version="1.0" encoding="utf-8"?>
<p:tagLst xmlns:p="http://schemas.openxmlformats.org/presentationml/2006/main">
  <p:tag name="KSO_WM_DIAGRAM_VIRTUALLY_FRAME" val="{&quot;height&quot;:333.7,&quot;left&quot;:181.0367716535433,&quot;top&quot;:150.5,&quot;width&quot;:585.2126771653544}"/>
</p:tagLst>
</file>

<file path=ppt/tags/tag81.xml><?xml version="1.0" encoding="utf-8"?>
<p:tagLst xmlns:p="http://schemas.openxmlformats.org/presentationml/2006/main">
  <p:tag name="KSO_WM_DIAGRAM_VIRTUALLY_FRAME" val="{&quot;height&quot;:333.7,&quot;left&quot;:181.0367716535433,&quot;top&quot;:150.5,&quot;width&quot;:585.2126771653544}"/>
</p:tagLst>
</file>

<file path=ppt/tags/tag82.xml><?xml version="1.0" encoding="utf-8"?>
<p:tagLst xmlns:p="http://schemas.openxmlformats.org/presentationml/2006/main">
  <p:tag name="KSO_WM_DIAGRAM_VIRTUALLY_FRAME" val="{&quot;height&quot;:333.7,&quot;left&quot;:116.85,&quot;top&quot;:150.5,&quot;width&quot;:710.2425984251968}"/>
</p:tagLst>
</file>

<file path=ppt/tags/tag83.xml><?xml version="1.0" encoding="utf-8"?>
<p:tagLst xmlns:p="http://schemas.openxmlformats.org/presentationml/2006/main">
  <p:tag name="KSO_WM_DIAGRAM_VIRTUALLY_FRAME" val="{&quot;height&quot;:333.7,&quot;left&quot;:116.85,&quot;top&quot;:150.5,&quot;width&quot;:710.2425984251968}"/>
</p:tagLst>
</file>

<file path=ppt/tags/tag84.xml><?xml version="1.0" encoding="utf-8"?>
<p:tagLst xmlns:p="http://schemas.openxmlformats.org/presentationml/2006/main">
  <p:tag name="KSO_WM_DIAGRAM_VIRTUALLY_FRAME" val="{&quot;height&quot;:333.7,&quot;left&quot;:116.85,&quot;top&quot;:150.5,&quot;width&quot;:710.2425984251968}"/>
</p:tagLst>
</file>

<file path=ppt/tags/tag85.xml><?xml version="1.0" encoding="utf-8"?>
<p:tagLst xmlns:p="http://schemas.openxmlformats.org/presentationml/2006/main">
  <p:tag name="KSO_WM_DIAGRAM_VIRTUALLY_FRAME" val="{&quot;height&quot;:333.7,&quot;left&quot;:116.85,&quot;top&quot;:150.5,&quot;width&quot;:710.2425984251968}"/>
</p:tagLst>
</file>

<file path=ppt/tags/tag86.xml><?xml version="1.0" encoding="utf-8"?>
<p:tagLst xmlns:p="http://schemas.openxmlformats.org/presentationml/2006/main">
  <p:tag name="KSO_WM_DIAGRAM_VIRTUALLY_FRAME" val="{&quot;height&quot;:333.7,&quot;left&quot;:116.85,&quot;top&quot;:150.5,&quot;width&quot;:710.2425984251968}"/>
</p:tagLst>
</file>

<file path=ppt/tags/tag87.xml><?xml version="1.0" encoding="utf-8"?>
<p:tagLst xmlns:p="http://schemas.openxmlformats.org/presentationml/2006/main">
  <p:tag name="KSO_WM_DIAGRAM_VIRTUALLY_FRAME" val="{&quot;height&quot;:333.7,&quot;left&quot;:116.85,&quot;top&quot;:150.5,&quot;width&quot;:710.2425984251968}"/>
</p:tagLst>
</file>

<file path=ppt/tags/tag88.xml><?xml version="1.0" encoding="utf-8"?>
<p:tagLst xmlns:p="http://schemas.openxmlformats.org/presentationml/2006/main">
  <p:tag name="KSO_WM_DIAGRAM_VIRTUALLY_FRAME" val="{&quot;height&quot;:333.7,&quot;left&quot;:116.85,&quot;top&quot;:150.5,&quot;width&quot;:710.2425984251968}"/>
</p:tagLst>
</file>

<file path=ppt/tags/tag89.xml><?xml version="1.0" encoding="utf-8"?>
<p:tagLst xmlns:p="http://schemas.openxmlformats.org/presentationml/2006/main">
  <p:tag name="KSO_WM_DIAGRAM_VIRTUALLY_FRAME" val="{&quot;height&quot;:333.7,&quot;left&quot;:116.85,&quot;top&quot;:150.5,&quot;width&quot;:710.2425984251968}"/>
</p:tagLst>
</file>

<file path=ppt/tags/tag90.xml><?xml version="1.0" encoding="utf-8"?>
<p:tagLst xmlns:p="http://schemas.openxmlformats.org/presentationml/2006/main">
  <p:tag name="KSO_WM_DIAGRAM_VIRTUALLY_FRAME" val="{&quot;height&quot;:333.7,&quot;left&quot;:116.85,&quot;top&quot;:150.5,&quot;width&quot;:710.2425984251968}"/>
</p:tagLst>
</file>

<file path=ppt/tags/tag91.xml><?xml version="1.0" encoding="utf-8"?>
<p:tagLst xmlns:p="http://schemas.openxmlformats.org/presentationml/2006/main">
  <p:tag name="KSO_WM_DIAGRAM_VIRTUALLY_FRAME" val="{&quot;height&quot;:333.7,&quot;left&quot;:116.85,&quot;top&quot;:150.5,&quot;width&quot;:710.2425984251968}"/>
</p:tagLst>
</file>

<file path=ppt/tags/tag92.xml><?xml version="1.0" encoding="utf-8"?>
<p:tagLst xmlns:p="http://schemas.openxmlformats.org/presentationml/2006/main">
  <p:tag name="KSO_WM_DIAGRAM_VIRTUALLY_FRAME" val="{&quot;height&quot;:333.7,&quot;left&quot;:116.85,&quot;top&quot;:150.5,&quot;width&quot;:710.2425984251968}"/>
</p:tagLst>
</file>

<file path=ppt/tags/tag93.xml><?xml version="1.0" encoding="utf-8"?>
<p:tagLst xmlns:p="http://schemas.openxmlformats.org/presentationml/2006/main">
  <p:tag name="KSO_WM_DIAGRAM_VIRTUALLY_FRAME" val="{&quot;height&quot;:333.7,&quot;left&quot;:116.85,&quot;top&quot;:150.5,&quot;width&quot;:710.2425984251968}"/>
</p:tagLst>
</file>

<file path=ppt/tags/tag94.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1204</Words>
  <Application>WPS 演示</Application>
  <PresentationFormat>宽屏</PresentationFormat>
  <Paragraphs>64</Paragraphs>
  <Slides>7</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7</vt:i4>
      </vt:variant>
    </vt:vector>
  </HeadingPairs>
  <TitlesOfParts>
    <vt:vector size="18" baseType="lpstr">
      <vt:lpstr>Arial</vt:lpstr>
      <vt:lpstr>宋体</vt:lpstr>
      <vt:lpstr>Wingdings</vt:lpstr>
      <vt:lpstr>微软雅黑</vt:lpstr>
      <vt:lpstr>Wingdings</vt:lpstr>
      <vt:lpstr>等线</vt:lpstr>
      <vt:lpstr>DIN-BoldItalic</vt:lpstr>
      <vt:lpstr>思源宋体</vt:lpstr>
      <vt:lpstr>JetBrainsMono NF</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1149</cp:revision>
  <dcterms:created xsi:type="dcterms:W3CDTF">2019-06-19T02:08:00Z</dcterms:created>
  <dcterms:modified xsi:type="dcterms:W3CDTF">2026-05-23T13:28:12Z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E9BF27EC13874F288B0E86D9983B63BA_13</vt:lpwstr>
  </property>
</Properties>
</file>